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33" r:id="rId2"/>
    <p:sldId id="307" r:id="rId3"/>
    <p:sldId id="309" r:id="rId4"/>
    <p:sldId id="311" r:id="rId5"/>
    <p:sldId id="341" r:id="rId6"/>
    <p:sldId id="313" r:id="rId7"/>
    <p:sldId id="317" r:id="rId8"/>
    <p:sldId id="342" r:id="rId9"/>
    <p:sldId id="334" r:id="rId10"/>
    <p:sldId id="340" r:id="rId11"/>
    <p:sldId id="33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lang="en-US" sz="1600" b="1">
                <a:solidFill>
                  <a:srgbClr val="FFFFFF"/>
                </a:solidFill>
                <a:latin typeface="Montserrat"/>
              </a:rPr>
              <a:t>Demat accounts in India (millions)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Demat accounts (M)</c:v>
          </c:tx>
          <c:spPr>
            <a:ln w="38100">
              <a:solidFill>
                <a:srgbClr val="00E5CC"/>
              </a:solidFill>
            </a:ln>
          </c:spPr>
          <c:marker>
            <c:symbol val="circle"/>
            <c:size val="8"/>
            <c:spPr>
              <a:solidFill>
                <a:srgbClr val="00E5CC"/>
              </a:solidFill>
              <a:ln>
                <a:solidFill>
                  <a:srgbClr val="00E5CC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Inter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strLit>
          </c:cat>
          <c:val>
            <c:numLit>
              <c:formatCode>General</c:formatCode>
              <c:ptCount val="7"/>
              <c:pt idx="0">
                <c:v>36</c:v>
              </c:pt>
              <c:pt idx="1">
                <c:v>49</c:v>
              </c:pt>
              <c:pt idx="2">
                <c:v>84</c:v>
              </c:pt>
              <c:pt idx="3">
                <c:v>108</c:v>
              </c:pt>
              <c:pt idx="4">
                <c:v>139</c:v>
              </c:pt>
              <c:pt idx="5">
                <c:v>171</c:v>
              </c:pt>
              <c:pt idx="6">
                <c:v>194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511-4948-B05A-804AA6D73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9CA3AF"/>
                </a:solidFill>
                <a:latin typeface="Inte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141E-EEE6-EB94-2407-8F6985205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8F0AC-50D1-8F00-3C7E-58D3057C9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D60C1-BCB3-7396-E758-C612F0A4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86B07-14A0-828E-02D6-C8F873E6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07515-51AE-AAF1-B36D-D9C4F106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1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A7EA-FDAB-93F3-54D9-09FE7998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F242-1EE1-44B8-F7B0-42DF4FD42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FC05-DB3C-555D-523C-511B4538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1FF3-F6BF-CF6D-0B8B-FA6C85D5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FE6D-DFD5-947B-2089-51C8B31D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89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CE3B-5954-4759-2210-E8CCED26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7F2F-D6DD-646B-A5EF-5E454738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38F05-8E6B-ADFF-695D-BBA29DF77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6BFD5-4F62-3C11-9583-A6FEC13CA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4E6A7-7776-0003-E422-22B64FEE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5B29F6-4E46-6BF3-424E-CCDA2468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C005E-29EA-DE86-6C25-F8840C01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7D2A6-64BA-CC0A-21F2-0001B07A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94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5F983-BDC3-3FAE-9931-1B8B8EED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DD4DE-6686-6B39-CA73-4DBA5473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243AD-5CAF-D72C-6699-CCF3797D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5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1047-9E9A-6263-ACF6-934DFB66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799FF-299B-29CB-35BA-CADC35A06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BFB8F-7738-16F4-27F7-DCE5EF610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D0BC-C83C-7A33-2C41-4550F452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52D5-797F-D0C9-96D6-48D16E4F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FD82D-DDF3-9F73-E54D-6845B097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94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A519-2F08-0AE5-3A19-AAB9D99F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88EE0-5DBE-E778-B25A-A9E0C0F50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014C-577A-B1C9-7AB6-774B9C964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6A20-4817-23EE-5E5B-B83D8A69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A6FBC-2B82-3671-649D-D1093922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A21FA-1895-207A-1B98-68B0A742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22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B8A3-A1E6-1C92-938C-DF3ABF2F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BD58F-F345-8DF6-5DB0-61443260A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26A1-E494-3FFE-5DA0-84612AD0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99BB-BF9D-A8E0-3CCC-E58FCF13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840C-854D-ADD9-A6B8-6E5D22B8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45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64096-5DE4-8995-BCE1-C7635C988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24091-8FC8-260D-EF49-C7668021A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BF95-FC44-02BF-5CD7-35B7A7C3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68F9F-2F17-0E35-7FDD-94A4E5DF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DA8D5-CC99-DE88-8331-C6F3609F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20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7FD3C-E49C-23E6-1CD6-64B69BA9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1167-666A-E2DD-0965-74D7FC671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9BEF-CFAF-9D95-6441-88C2C1A73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B1ADF-EE21-4385-B9C9-6A3DFBC3449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6C8F6-1E57-A298-A30D-A21DE5BEF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97E22-2425-5C00-5C98-A0436AA79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BCBB8-FC87-4541-9710-364C4D2C8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49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5E7E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/>
          <p:cNvSpPr txBox="1"/>
          <p:nvPr/>
        </p:nvSpPr>
        <p:spPr>
          <a:xfrm>
            <a:off x="457200" y="457200"/>
            <a:ext cx="2794000" cy="838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4400" b="1" dirty="0">
                <a:solidFill>
                  <a:srgbClr val="00E5CC"/>
                </a:solidFill>
                <a:latin typeface="Montserrat"/>
              </a:rPr>
              <a:t>Move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CA3AF"/>
                </a:solidFill>
                <a:latin typeface="Inter"/>
              </a:rPr>
              <a:t>AI that explains why your stock or portfolio moved</a:t>
            </a:r>
          </a:p>
        </p:txBody>
      </p:sp>
      <p:sp>
        <p:nvSpPr>
          <p:cNvPr id="12" name="Tagline"/>
          <p:cNvSpPr txBox="1"/>
          <p:nvPr/>
        </p:nvSpPr>
        <p:spPr>
          <a:xfrm>
            <a:off x="457200" y="205740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India lost </a:t>
            </a:r>
            <a:r>
              <a:rPr lang="en-US" sz="3600" b="1" dirty="0">
                <a:solidFill>
                  <a:srgbClr val="EF4444"/>
                </a:solidFill>
                <a:latin typeface="Montserrat"/>
              </a:rPr>
              <a:t>₹3 lakh crore</a:t>
            </a:r>
            <a:r>
              <a:rPr lang="en-US" sz="3600" b="1" dirty="0">
                <a:solidFill>
                  <a:srgbClr val="FFFFFF"/>
                </a:solidFill>
                <a:latin typeface="Montserrat"/>
              </a:rPr>
              <a:t> in the market.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9CA3AF"/>
                </a:solidFill>
                <a:latin typeface="Montserrat"/>
              </a:rPr>
              <a:t>Nobody explained why.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00E5CC"/>
                </a:solidFill>
                <a:latin typeface="Montserrat"/>
              </a:rPr>
              <a:t>Move does.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400" dirty="0">
                <a:solidFill>
                  <a:srgbClr val="6B7280"/>
                </a:solidFill>
                <a:latin typeface="Inter"/>
              </a:rPr>
              <a:t>Personalized investing explainability for India's new retail investors</a:t>
            </a:r>
          </a:p>
        </p:txBody>
      </p:sp>
      <p:sp>
        <p:nvSpPr>
          <p:cNvPr id="20" name="PhoneBody"/>
          <p:cNvSpPr/>
          <p:nvPr/>
        </p:nvSpPr>
        <p:spPr>
          <a:xfrm>
            <a:off x="8165892" y="1090815"/>
            <a:ext cx="2286000" cy="4800600"/>
          </a:xfrm>
          <a:prstGeom prst="roundRect">
            <a:avLst>
              <a:gd name="adj" fmla="val 8000"/>
            </a:avLst>
          </a:prstGeom>
          <a:solidFill>
            <a:srgbClr val="151B2E"/>
          </a:solidFill>
          <a:ln w="25400">
            <a:solidFill>
              <a:srgbClr val="2A33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PhoneScreen"/>
          <p:cNvSpPr/>
          <p:nvPr/>
        </p:nvSpPr>
        <p:spPr>
          <a:xfrm>
            <a:off x="8257332" y="1268730"/>
            <a:ext cx="2103120" cy="4434840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honeHeader"/>
          <p:cNvSpPr txBox="1"/>
          <p:nvPr/>
        </p:nvSpPr>
        <p:spPr>
          <a:xfrm>
            <a:off x="8348772" y="1412636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00" b="1" dirty="0">
                <a:solidFill>
                  <a:srgbClr val="9CA3AF"/>
                </a:solidFill>
                <a:latin typeface="Inter"/>
              </a:rPr>
              <a:t>YOUR PORTFOLIO · TODAY</a:t>
            </a:r>
          </a:p>
        </p:txBody>
      </p:sp>
      <p:sp>
        <p:nvSpPr>
          <p:cNvPr id="23" name="PhoneLoss"/>
          <p:cNvSpPr txBox="1"/>
          <p:nvPr/>
        </p:nvSpPr>
        <p:spPr>
          <a:xfrm>
            <a:off x="8348772" y="1773899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800" b="1" dirty="0">
                <a:solidFill>
                  <a:srgbClr val="EF4444"/>
                </a:solidFill>
                <a:latin typeface="Montserrat"/>
              </a:rPr>
              <a:t>- ₹24,830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EF4444"/>
                </a:solidFill>
                <a:latin typeface="Inter"/>
              </a:rPr>
              <a:t>−3.8% today</a:t>
            </a:r>
          </a:p>
        </p:txBody>
      </p:sp>
      <p:sp>
        <p:nvSpPr>
          <p:cNvPr id="24" name="WhyCard"/>
          <p:cNvSpPr/>
          <p:nvPr/>
        </p:nvSpPr>
        <p:spPr>
          <a:xfrm>
            <a:off x="8348772" y="266319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0F1729"/>
          </a:solidFill>
          <a:ln w="19050">
            <a:solidFill>
              <a:srgbClr val="00E5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WhyCardText"/>
          <p:cNvSpPr txBox="1"/>
          <p:nvPr/>
        </p:nvSpPr>
        <p:spPr>
          <a:xfrm>
            <a:off x="8440212" y="2754630"/>
            <a:ext cx="17373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00" b="1" dirty="0">
                <a:solidFill>
                  <a:srgbClr val="00E5CC"/>
                </a:solidFill>
                <a:latin typeface="Inter"/>
              </a:rPr>
              <a:t>WHY CARD</a:t>
            </a:r>
          </a:p>
          <a:p>
            <a:pPr>
              <a:spcBef>
                <a:spcPts val="400"/>
              </a:spcBef>
            </a:pPr>
            <a:r>
              <a:rPr lang="en-US" sz="1200" b="1" dirty="0">
                <a:solidFill>
                  <a:srgbClr val="FFFFFF"/>
                </a:solidFill>
                <a:latin typeface="Montserrat"/>
              </a:rPr>
              <a:t>Your portfolio fell because:</a:t>
            </a:r>
          </a:p>
          <a:p>
            <a:pPr>
              <a:spcBef>
                <a:spcPts val="400"/>
              </a:spcBef>
            </a:pPr>
            <a:r>
              <a:rPr lang="en-US" sz="1100" b="1" dirty="0">
                <a:solidFill>
                  <a:srgbClr val="EF4444"/>
                </a:solidFill>
                <a:latin typeface="Inter"/>
              </a:rPr>
              <a:t>58%  </a:t>
            </a:r>
            <a:r>
              <a:rPr lang="en-US" sz="1100" dirty="0">
                <a:solidFill>
                  <a:srgbClr val="E5E7EB"/>
                </a:solidFill>
                <a:latin typeface="Inter"/>
              </a:rPr>
              <a:t>IT sector spillover</a:t>
            </a:r>
          </a:p>
          <a:p>
            <a:pPr>
              <a:spcBef>
                <a:spcPts val="300"/>
              </a:spcBef>
            </a:pPr>
            <a:r>
              <a:rPr lang="en-US" sz="1100" b="1" dirty="0">
                <a:solidFill>
                  <a:srgbClr val="FFB020"/>
                </a:solidFill>
                <a:latin typeface="Inter"/>
              </a:rPr>
              <a:t>27%  </a:t>
            </a:r>
            <a:r>
              <a:rPr lang="en-US" sz="1100" dirty="0">
                <a:solidFill>
                  <a:srgbClr val="E5E7EB"/>
                </a:solidFill>
                <a:latin typeface="Inter"/>
              </a:rPr>
              <a:t>FII selling pressure</a:t>
            </a:r>
          </a:p>
          <a:p>
            <a:pPr>
              <a:spcBef>
                <a:spcPts val="300"/>
              </a:spcBef>
            </a:pPr>
            <a:r>
              <a:rPr lang="en-US" sz="1100" b="1" dirty="0">
                <a:solidFill>
                  <a:srgbClr val="9CA3AF"/>
                </a:solidFill>
                <a:latin typeface="Inter"/>
              </a:rPr>
              <a:t>15%  </a:t>
            </a:r>
            <a:r>
              <a:rPr lang="en-US" sz="1100" dirty="0">
                <a:solidFill>
                  <a:srgbClr val="E5E7EB"/>
                </a:solidFill>
                <a:latin typeface="Inter"/>
              </a:rPr>
              <a:t>normal volatility</a:t>
            </a:r>
          </a:p>
          <a:p>
            <a:pPr>
              <a:spcBef>
                <a:spcPts val="500"/>
              </a:spcBef>
            </a:pPr>
            <a:r>
              <a:rPr lang="en-US" sz="900" i="1" dirty="0">
                <a:solidFill>
                  <a:srgbClr val="9CA3AF"/>
                </a:solidFill>
                <a:latin typeface="Inter"/>
              </a:rPr>
              <a:t>TCS −4.2% drove the bulk. Sector-wide, not company-specific.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9E738843-1A49-4EA0-E299-4B9F053AEF97}"/>
              </a:ext>
            </a:extLst>
          </p:cNvPr>
          <p:cNvSpPr txBox="1"/>
          <p:nvPr/>
        </p:nvSpPr>
        <p:spPr>
          <a:xfrm>
            <a:off x="6473072" y="606933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1400" dirty="0">
                <a:latin typeface="Inter"/>
              </a:rPr>
              <a:t>Kuppili Nikhilesh Raju</a:t>
            </a:r>
          </a:p>
          <a:p>
            <a:pPr algn="r"/>
            <a:r>
              <a:rPr lang="en-US" sz="1400" dirty="0">
                <a:latin typeface="Inter"/>
              </a:rPr>
              <a:t>23R11A66H7</a:t>
            </a:r>
          </a:p>
          <a:p>
            <a:pPr algn="r"/>
            <a:r>
              <a:rPr lang="en-US" sz="1400" dirty="0">
                <a:latin typeface="Inter"/>
              </a:rPr>
              <a:t>AIML - D</a:t>
            </a:r>
          </a:p>
        </p:txBody>
      </p:sp>
    </p:spTree>
    <p:extLst>
      <p:ext uri="{BB962C8B-B14F-4D97-AF65-F5344CB8AC3E}">
        <p14:creationId xmlns:p14="http://schemas.microsoft.com/office/powerpoint/2010/main" val="4211218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1072546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200" b="1" dirty="0">
                <a:solidFill>
                  <a:srgbClr val="FFFFFF"/>
                </a:solidFill>
                <a:latin typeface="Montserrat"/>
              </a:rPr>
              <a:t>Retail investing exploded. Learning never did.</a:t>
            </a:r>
          </a:p>
        </p:txBody>
      </p:sp>
      <p:sp>
        <p:nvSpPr>
          <p:cNvPr id="10" name="Stat10Card"/>
          <p:cNvSpPr/>
          <p:nvPr/>
        </p:nvSpPr>
        <p:spPr>
          <a:xfrm>
            <a:off x="1176226" y="1308641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00E5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tat10Txt"/>
          <p:cNvSpPr txBox="1"/>
          <p:nvPr/>
        </p:nvSpPr>
        <p:spPr>
          <a:xfrm>
            <a:off x="1296147" y="1325880"/>
            <a:ext cx="27432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5400" b="1" dirty="0">
                <a:solidFill>
                  <a:srgbClr val="00E5CC"/>
                </a:solidFill>
                <a:latin typeface="Montserrat"/>
              </a:rPr>
              <a:t>194M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E5E7EB"/>
                </a:solidFill>
                <a:latin typeface="Inter"/>
              </a:rPr>
              <a:t>demat accounts in India in 2025</a:t>
            </a:r>
          </a:p>
          <a:p>
            <a:pPr>
              <a:spcBef>
                <a:spcPts val="200"/>
              </a:spcBef>
            </a:pPr>
            <a:r>
              <a:rPr lang="en-US" sz="1100" i="1" dirty="0">
                <a:solidFill>
                  <a:srgbClr val="9CA3AF"/>
                </a:solidFill>
                <a:latin typeface="Inter"/>
              </a:rPr>
              <a:t>up from 36M in 2019</a:t>
            </a:r>
          </a:p>
        </p:txBody>
      </p:sp>
      <p:sp>
        <p:nvSpPr>
          <p:cNvPr id="12" name="Stat12Card"/>
          <p:cNvSpPr/>
          <p:nvPr/>
        </p:nvSpPr>
        <p:spPr>
          <a:xfrm>
            <a:off x="4867804" y="1308641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tat12Txt"/>
          <p:cNvSpPr txBox="1"/>
          <p:nvPr/>
        </p:nvSpPr>
        <p:spPr>
          <a:xfrm>
            <a:off x="5050684" y="1362606"/>
            <a:ext cx="237744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5400" b="1" dirty="0">
                <a:solidFill>
                  <a:srgbClr val="EF4444"/>
                </a:solidFill>
                <a:latin typeface="Montserrat"/>
              </a:rPr>
              <a:t>90%+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E5E7EB"/>
                </a:solidFill>
                <a:latin typeface="Inter"/>
              </a:rPr>
              <a:t>retail F&amp;O traders lose money</a:t>
            </a:r>
          </a:p>
          <a:p>
            <a:pPr>
              <a:spcBef>
                <a:spcPts val="200"/>
              </a:spcBef>
            </a:pPr>
            <a:r>
              <a:rPr lang="en-US" sz="1100" i="1" dirty="0">
                <a:solidFill>
                  <a:srgbClr val="9CA3AF"/>
                </a:solidFill>
                <a:latin typeface="Inter"/>
              </a:rPr>
              <a:t>SEBI-linked reporting</a:t>
            </a:r>
          </a:p>
        </p:txBody>
      </p:sp>
      <p:sp>
        <p:nvSpPr>
          <p:cNvPr id="14" name="Stat14Card"/>
          <p:cNvSpPr/>
          <p:nvPr/>
        </p:nvSpPr>
        <p:spPr>
          <a:xfrm>
            <a:off x="8439462" y="13258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FFB02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tat14Txt"/>
          <p:cNvSpPr txBox="1"/>
          <p:nvPr/>
        </p:nvSpPr>
        <p:spPr>
          <a:xfrm>
            <a:off x="8529401" y="1417320"/>
            <a:ext cx="27432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5400" b="1" dirty="0">
                <a:solidFill>
                  <a:srgbClr val="FFB020"/>
                </a:solidFill>
                <a:latin typeface="Montserrat"/>
              </a:rPr>
              <a:t>₹1.05T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E5E7EB"/>
                </a:solidFill>
                <a:latin typeface="Inter"/>
              </a:rPr>
              <a:t>aggregate retail F&amp;O loss</a:t>
            </a:r>
          </a:p>
          <a:p>
            <a:pPr>
              <a:spcBef>
                <a:spcPts val="200"/>
              </a:spcBef>
            </a:pPr>
            <a:r>
              <a:rPr lang="en-US" sz="1100" i="1" dirty="0">
                <a:solidFill>
                  <a:srgbClr val="9CA3AF"/>
                </a:solidFill>
                <a:latin typeface="Inter"/>
              </a:rPr>
              <a:t>over 3 years</a:t>
            </a:r>
          </a:p>
        </p:txBody>
      </p:sp>
      <p:sp>
        <p:nvSpPr>
          <p:cNvPr id="40" name="Takeaway"/>
          <p:cNvSpPr txBox="1"/>
          <p:nvPr/>
        </p:nvSpPr>
        <p:spPr>
          <a:xfrm>
            <a:off x="1176226" y="603504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The real problem is not loss. It's </a:t>
            </a:r>
            <a:r>
              <a:rPr lang="en-US" sz="2000" b="1" dirty="0">
                <a:solidFill>
                  <a:srgbClr val="00E5CC"/>
                </a:solidFill>
                <a:latin typeface="Montserrat"/>
              </a:rPr>
              <a:t>unexplained</a:t>
            </a:r>
            <a:r>
              <a:rPr lang="en-US" sz="2000" b="1" dirty="0">
                <a:solidFill>
                  <a:srgbClr val="FFFFFF"/>
                </a:solidFill>
                <a:latin typeface="Montserrat"/>
              </a:rPr>
              <a:t> loss.</a:t>
            </a:r>
          </a:p>
        </p:txBody>
      </p:sp>
      <p:graphicFrame>
        <p:nvGraphicFramePr>
          <p:cNvPr id="50" name="DematChart"/>
          <p:cNvGraphicFramePr/>
          <p:nvPr>
            <p:extLst>
              <p:ext uri="{D42A27DB-BD31-4B8C-83A1-F6EECF244321}">
                <p14:modId xmlns:p14="http://schemas.microsoft.com/office/powerpoint/2010/main" val="2248960661"/>
              </p:ext>
            </p:extLst>
          </p:nvPr>
        </p:nvGraphicFramePr>
        <p:xfrm>
          <a:off x="1981200" y="3225800"/>
          <a:ext cx="82296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AEFE09D-2E9F-9C37-F504-F497794F7EFA}"/>
              </a:ext>
            </a:extLst>
          </p:cNvPr>
          <p:cNvSpPr txBox="1"/>
          <p:nvPr/>
        </p:nvSpPr>
        <p:spPr>
          <a:xfrm>
            <a:off x="8439462" y="5832753"/>
            <a:ext cx="36362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800" dirty="0"/>
              <a:t>Sources-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800" dirty="0"/>
              <a:t>Business Today — "Despite reforms, 91% of retail traders still lose money in India's booming derivatives market" (July 2025)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/>
              <a:t>CFA Institute Blogs — "India's Derivatives Market and Retail Investors" (November 2025)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 err="1"/>
              <a:t>Moneylife</a:t>
            </a:r>
            <a:r>
              <a:rPr lang="en-US" sz="800" dirty="0"/>
              <a:t> — "₹1.06 lakh crore lost by individual traders in F&amp;O in FY24-25, Govt confirms" (December 2025)- *URL:* moneylife.in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42958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 txBox="1"/>
          <p:nvPr/>
        </p:nvSpPr>
        <p:spPr>
          <a:xfrm>
            <a:off x="609600" y="457200"/>
            <a:ext cx="1371600" cy="304800"/>
          </a:xfrm>
          <a:prstGeom prst="roundRect">
            <a:avLst>
              <a:gd name="adj" fmla="val 50000"/>
            </a:avLst>
          </a:prstGeom>
          <a:solidFill>
            <a:srgbClr val="2A1F05"/>
          </a:solidFill>
          <a:ln w="12700">
            <a:solidFill>
              <a:srgbClr val="FFB020"/>
            </a:solidFill>
          </a:ln>
        </p:spPr>
        <p:txBody>
          <a:bodyPr lIns="91440" rIns="91440" anchor="ctr"/>
          <a:lstStyle/>
          <a:p>
            <a:pPr algn="ctr"/>
            <a:r>
              <a:rPr lang="en-US" sz="1100" b="1" dirty="0">
                <a:solidFill>
                  <a:srgbClr val="FFB020"/>
                </a:solidFill>
                <a:latin typeface="Montserrat"/>
              </a:rPr>
              <a:t>THE GAP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838200"/>
            <a:ext cx="109728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Today’s tools show prices, not reasons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09600" y="1447800"/>
            <a:ext cx="109728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dirty="0">
                <a:solidFill>
                  <a:srgbClr val="9CA3AF"/>
                </a:solidFill>
                <a:latin typeface="Inter"/>
              </a:rPr>
              <a:t>Every product in the retail stack tells you </a:t>
            </a:r>
            <a:r>
              <a:rPr lang="en-US" sz="1800" i="1" dirty="0">
                <a:solidFill>
                  <a:srgbClr val="E5E7EB"/>
                </a:solidFill>
                <a:latin typeface="Inter"/>
              </a:rPr>
              <a:t>what</a:t>
            </a:r>
            <a:r>
              <a:rPr lang="en-US" sz="1800" dirty="0">
                <a:solidFill>
                  <a:srgbClr val="9CA3AF"/>
                </a:solidFill>
                <a:latin typeface="Inter"/>
              </a:rPr>
              <a:t> happened. None tell you </a:t>
            </a:r>
            <a:r>
              <a:rPr lang="en-US" sz="1800" b="1" i="1" dirty="0">
                <a:solidFill>
                  <a:srgbClr val="00E5CC"/>
                </a:solidFill>
                <a:latin typeface="Inter"/>
              </a:rPr>
              <a:t>why it happened to you</a:t>
            </a:r>
            <a:r>
              <a:rPr lang="en-US" sz="1800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20" name="CardBg20"/>
          <p:cNvSpPr>
            <a:spLocks noGrp="1"/>
          </p:cNvSpPr>
          <p:nvPr/>
        </p:nvSpPr>
        <p:spPr>
          <a:xfrm>
            <a:off x="609600" y="2057400"/>
            <a:ext cx="5372100" cy="14859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IconBadge20"/>
          <p:cNvSpPr txBox="1"/>
          <p:nvPr/>
        </p:nvSpPr>
        <p:spPr>
          <a:xfrm>
            <a:off x="838200" y="2286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B0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B1020"/>
                </a:solidFill>
                <a:latin typeface="Montserrat"/>
              </a:rPr>
              <a:t>📰</a:t>
            </a:r>
          </a:p>
        </p:txBody>
      </p:sp>
      <p:sp>
        <p:nvSpPr>
          <p:cNvPr id="220" name="CardTitle20"/>
          <p:cNvSpPr txBox="1"/>
          <p:nvPr/>
        </p:nvSpPr>
        <p:spPr>
          <a:xfrm>
            <a:off x="1447800" y="2286000"/>
            <a:ext cx="4305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News apps</a:t>
            </a:r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FFB020"/>
                </a:solidFill>
                <a:latin typeface="Inter"/>
              </a:rPr>
              <a:t>Headlines, not ranked drivers</a:t>
            </a:r>
          </a:p>
        </p:txBody>
      </p:sp>
      <p:sp>
        <p:nvSpPr>
          <p:cNvPr id="320" name="CardBody20"/>
          <p:cNvSpPr txBox="1"/>
          <p:nvPr/>
        </p:nvSpPr>
        <p:spPr>
          <a:xfrm>
            <a:off x="838200" y="289560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You see 40 headlines a day. None tell you which of your holdings will move, or by how much. You are left to guess the causal chain.</a:t>
            </a:r>
          </a:p>
        </p:txBody>
      </p:sp>
      <p:sp>
        <p:nvSpPr>
          <p:cNvPr id="22" name="CardBg22"/>
          <p:cNvSpPr>
            <a:spLocks noGrp="1"/>
          </p:cNvSpPr>
          <p:nvPr/>
        </p:nvSpPr>
        <p:spPr>
          <a:xfrm>
            <a:off x="6209400" y="2057400"/>
            <a:ext cx="5372100" cy="14859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IconBadge22"/>
          <p:cNvSpPr txBox="1"/>
          <p:nvPr/>
        </p:nvSpPr>
        <p:spPr>
          <a:xfrm>
            <a:off x="6438000" y="2286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0E5C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B1020"/>
                </a:solidFill>
                <a:latin typeface="Montserrat"/>
              </a:rPr>
              <a:t>📈</a:t>
            </a:r>
          </a:p>
        </p:txBody>
      </p:sp>
      <p:sp>
        <p:nvSpPr>
          <p:cNvPr id="222" name="CardTitle22"/>
          <p:cNvSpPr txBox="1"/>
          <p:nvPr/>
        </p:nvSpPr>
        <p:spPr>
          <a:xfrm>
            <a:off x="7047600" y="2286000"/>
            <a:ext cx="4305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Broker apps</a:t>
            </a:r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00E5CC"/>
                </a:solidFill>
                <a:latin typeface="Inter"/>
              </a:rPr>
              <a:t>Charts, not causal explanations</a:t>
            </a:r>
          </a:p>
        </p:txBody>
      </p:sp>
      <p:sp>
        <p:nvSpPr>
          <p:cNvPr id="322" name="CardBody22"/>
          <p:cNvSpPr txBox="1"/>
          <p:nvPr/>
        </p:nvSpPr>
        <p:spPr>
          <a:xfrm>
            <a:off x="6438000" y="289560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Zerodha, Groww, Angel One show you a red candle. They do not tell you it was 58% sector spillover, 27% macro, 15% noise.</a:t>
            </a:r>
          </a:p>
        </p:txBody>
      </p:sp>
      <p:sp>
        <p:nvSpPr>
          <p:cNvPr id="24" name="CardBg24"/>
          <p:cNvSpPr>
            <a:spLocks noGrp="1"/>
          </p:cNvSpPr>
          <p:nvPr/>
        </p:nvSpPr>
        <p:spPr>
          <a:xfrm>
            <a:off x="609600" y="3771900"/>
            <a:ext cx="5372100" cy="14859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IconBadge24"/>
          <p:cNvSpPr txBox="1"/>
          <p:nvPr/>
        </p:nvSpPr>
        <p:spPr>
          <a:xfrm>
            <a:off x="838200" y="40005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B1020"/>
                </a:solidFill>
                <a:latin typeface="Montserrat"/>
              </a:rPr>
              <a:t>🎓</a:t>
            </a:r>
          </a:p>
        </p:txBody>
      </p:sp>
      <p:sp>
        <p:nvSpPr>
          <p:cNvPr id="224" name="CardTitle24"/>
          <p:cNvSpPr txBox="1"/>
          <p:nvPr/>
        </p:nvSpPr>
        <p:spPr>
          <a:xfrm>
            <a:off x="1447800" y="4000500"/>
            <a:ext cx="4305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Education platforms</a:t>
            </a:r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22C55E"/>
                </a:solidFill>
                <a:latin typeface="Inter"/>
              </a:rPr>
              <a:t>Generic concepts, not your portfolio</a:t>
            </a:r>
          </a:p>
        </p:txBody>
      </p:sp>
      <p:sp>
        <p:nvSpPr>
          <p:cNvPr id="324" name="CardBody24"/>
          <p:cNvSpPr txBox="1"/>
          <p:nvPr/>
        </p:nvSpPr>
        <p:spPr>
          <a:xfrm>
            <a:off x="838200" y="461010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Varsity teaches you what a P/E ratio is. Nothing teaches you why your trade today went wrong, or what pattern of yours caused it.</a:t>
            </a:r>
          </a:p>
        </p:txBody>
      </p:sp>
      <p:sp>
        <p:nvSpPr>
          <p:cNvPr id="26" name="CardBg26"/>
          <p:cNvSpPr>
            <a:spLocks noGrp="1"/>
          </p:cNvSpPr>
          <p:nvPr/>
        </p:nvSpPr>
        <p:spPr>
          <a:xfrm>
            <a:off x="6209400" y="3771900"/>
            <a:ext cx="5372100" cy="14859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IconBadge26"/>
          <p:cNvSpPr txBox="1"/>
          <p:nvPr/>
        </p:nvSpPr>
        <p:spPr>
          <a:xfrm>
            <a:off x="6438000" y="40005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F444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B1020"/>
                </a:solidFill>
                <a:latin typeface="Montserrat"/>
              </a:rPr>
              <a:t>🏦</a:t>
            </a:r>
          </a:p>
        </p:txBody>
      </p:sp>
      <p:sp>
        <p:nvSpPr>
          <p:cNvPr id="226" name="CardTitle26"/>
          <p:cNvSpPr txBox="1"/>
          <p:nvPr/>
        </p:nvSpPr>
        <p:spPr>
          <a:xfrm>
            <a:off x="7047600" y="4000500"/>
            <a:ext cx="4305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Institutional terminals</a:t>
            </a:r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EF4444"/>
                </a:solidFill>
                <a:latin typeface="Inter"/>
              </a:rPr>
              <a:t>Too expensive, wrong audience</a:t>
            </a:r>
          </a:p>
        </p:txBody>
      </p:sp>
      <p:sp>
        <p:nvSpPr>
          <p:cNvPr id="326" name="CardBody26"/>
          <p:cNvSpPr txBox="1"/>
          <p:nvPr/>
        </p:nvSpPr>
        <p:spPr>
          <a:xfrm>
            <a:off x="6438000" y="461010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Bloomberg costs ₹20L/year and speaks to analysts. Nothing equivalent exists for a 25-year-old with a ₹50,000 portfolio in Telugu.</a:t>
            </a:r>
          </a:p>
        </p:txBody>
      </p:sp>
      <p:sp>
        <p:nvSpPr>
          <p:cNvPr id="50" name="TakeawayBar"/>
          <p:cNvSpPr>
            <a:spLocks noGrp="1"/>
          </p:cNvSpPr>
          <p:nvPr/>
        </p:nvSpPr>
        <p:spPr>
          <a:xfrm>
            <a:off x="609600" y="5486400"/>
            <a:ext cx="76200" cy="6858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akeawayText"/>
          <p:cNvSpPr txBox="1"/>
          <p:nvPr/>
        </p:nvSpPr>
        <p:spPr>
          <a:xfrm>
            <a:off x="838200" y="5486400"/>
            <a:ext cx="107442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100" b="1" dirty="0">
                <a:solidFill>
                  <a:srgbClr val="00E5CC"/>
                </a:solidFill>
                <a:latin typeface="Montserrat"/>
              </a:rPr>
              <a:t>THE TAKEAWAY  </a:t>
            </a:r>
          </a:p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No product closes the loop between a loss happening and a lesson being learned.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The Gap</a:t>
            </a:r>
          </a:p>
        </p:txBody>
      </p:sp>
    </p:spTree>
    <p:extLst>
      <p:ext uri="{BB962C8B-B14F-4D97-AF65-F5344CB8AC3E}">
        <p14:creationId xmlns:p14="http://schemas.microsoft.com/office/powerpoint/2010/main" val="10892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 txBox="1"/>
          <p:nvPr/>
        </p:nvSpPr>
        <p:spPr>
          <a:xfrm>
            <a:off x="609600" y="45720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052A26"/>
          </a:solidFill>
          <a:ln w="12700">
            <a:solidFill>
              <a:srgbClr val="00E5CC"/>
            </a:solidFill>
          </a:ln>
        </p:spPr>
        <p:txBody>
          <a:bodyPr lIns="91440" rIns="91440" anchor="ctr"/>
          <a:lstStyle/>
          <a:p>
            <a:pPr algn="ctr"/>
            <a:r>
              <a:rPr lang="en-US" sz="1100" b="1" dirty="0">
                <a:solidFill>
                  <a:srgbClr val="00E5CC"/>
                </a:solidFill>
                <a:latin typeface="Montserrat"/>
              </a:rPr>
              <a:t>THE SOLUTION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342900" y="838200"/>
            <a:ext cx="1175385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Move is the </a:t>
            </a:r>
            <a:r>
              <a:rPr lang="en-US" sz="3600" b="1" dirty="0">
                <a:solidFill>
                  <a:srgbClr val="00E5CC"/>
                </a:solidFill>
                <a:latin typeface="Montserrat"/>
              </a:rPr>
              <a:t>why layer</a:t>
            </a:r>
            <a:r>
              <a:rPr lang="en-US" sz="3600" b="1" dirty="0">
                <a:solidFill>
                  <a:srgbClr val="FFFFFF"/>
                </a:solidFill>
                <a:latin typeface="Montserrat"/>
              </a:rPr>
              <a:t> for Indian retail investors.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342900" y="1661731"/>
            <a:ext cx="109728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dirty="0">
                <a:solidFill>
                  <a:srgbClr val="9CA3AF"/>
                </a:solidFill>
                <a:latin typeface="Inter"/>
              </a:rPr>
              <a:t>An AI that reads every market event, matches it to your portfolio, and turns price moves into plain-language lessons — in your language, on your phone.</a:t>
            </a:r>
          </a:p>
        </p:txBody>
      </p:sp>
      <p:sp>
        <p:nvSpPr>
          <p:cNvPr id="20" name="Pillar20Bg"/>
          <p:cNvSpPr>
            <a:spLocks noGrp="1"/>
          </p:cNvSpPr>
          <p:nvPr/>
        </p:nvSpPr>
        <p:spPr>
          <a:xfrm>
            <a:off x="609600" y="2692400"/>
            <a:ext cx="3352800" cy="3048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9050">
            <a:solidFill>
              <a:srgbClr val="00E5CC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1" name="Pillar20Stripe"/>
          <p:cNvSpPr>
            <a:spLocks noGrp="1"/>
          </p:cNvSpPr>
          <p:nvPr/>
        </p:nvSpPr>
        <p:spPr>
          <a:xfrm>
            <a:off x="609600" y="2693986"/>
            <a:ext cx="3352800" cy="762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illar20Num"/>
          <p:cNvSpPr txBox="1"/>
          <p:nvPr/>
        </p:nvSpPr>
        <p:spPr>
          <a:xfrm>
            <a:off x="952500" y="289718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0E5CC"/>
                </a:solidFill>
                <a:latin typeface="Montserrat"/>
              </a:rPr>
              <a:t>01</a:t>
            </a:r>
          </a:p>
        </p:txBody>
      </p:sp>
      <p:sp>
        <p:nvSpPr>
          <p:cNvPr id="23" name="Pillar20Title"/>
          <p:cNvSpPr txBox="1"/>
          <p:nvPr/>
        </p:nvSpPr>
        <p:spPr>
          <a:xfrm>
            <a:off x="914400" y="3240086"/>
            <a:ext cx="27432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 dirty="0">
                <a:solidFill>
                  <a:srgbClr val="FFFFFF"/>
                </a:solidFill>
                <a:latin typeface="Montserrat"/>
              </a:rPr>
              <a:t>Explain</a:t>
            </a:r>
          </a:p>
        </p:txBody>
      </p:sp>
      <p:sp>
        <p:nvSpPr>
          <p:cNvPr id="24" name="Pillar20Sub"/>
          <p:cNvSpPr txBox="1"/>
          <p:nvPr/>
        </p:nvSpPr>
        <p:spPr>
          <a:xfrm>
            <a:off x="914400" y="3821111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i="1" dirty="0">
                <a:solidFill>
                  <a:srgbClr val="E5E7EB"/>
                </a:solidFill>
                <a:latin typeface="Inter"/>
              </a:rPr>
              <a:t>Why did my portfolio move today?</a:t>
            </a:r>
          </a:p>
        </p:txBody>
      </p:sp>
      <p:sp>
        <p:nvSpPr>
          <p:cNvPr id="25" name="Pillar20Rule"/>
          <p:cNvSpPr>
            <a:spLocks noGrp="1"/>
          </p:cNvSpPr>
          <p:nvPr/>
        </p:nvSpPr>
        <p:spPr>
          <a:xfrm>
            <a:off x="914400" y="4432300"/>
            <a:ext cx="609600" cy="1905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Pillar20Body"/>
          <p:cNvSpPr txBox="1"/>
          <p:nvPr/>
        </p:nvSpPr>
        <p:spPr>
          <a:xfrm>
            <a:off x="914400" y="4578350"/>
            <a:ext cx="27432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A causal engine decomposes every move into stock, sector, and macro drivers — and explains it in one paragraph you can actually read.</a:t>
            </a:r>
          </a:p>
        </p:txBody>
      </p:sp>
      <p:sp>
        <p:nvSpPr>
          <p:cNvPr id="2" name="Pillar24Bg"/>
          <p:cNvSpPr>
            <a:spLocks noGrp="1"/>
          </p:cNvSpPr>
          <p:nvPr/>
        </p:nvSpPr>
        <p:spPr>
          <a:xfrm>
            <a:off x="4419600" y="2635250"/>
            <a:ext cx="3352800" cy="3048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9050">
            <a:solidFill>
              <a:srgbClr val="FFB02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Pillar24Stripe"/>
          <p:cNvSpPr>
            <a:spLocks noGrp="1"/>
          </p:cNvSpPr>
          <p:nvPr/>
        </p:nvSpPr>
        <p:spPr>
          <a:xfrm>
            <a:off x="4419600" y="2628900"/>
            <a:ext cx="3352800" cy="762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Pillar24Num"/>
          <p:cNvSpPr txBox="1"/>
          <p:nvPr/>
        </p:nvSpPr>
        <p:spPr>
          <a:xfrm>
            <a:off x="4724400" y="2936875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FFB020"/>
                </a:solidFill>
                <a:latin typeface="Montserrat"/>
              </a:rPr>
              <a:t>02</a:t>
            </a:r>
          </a:p>
        </p:txBody>
      </p:sp>
      <p:sp>
        <p:nvSpPr>
          <p:cNvPr id="27" name="Pillar24Title"/>
          <p:cNvSpPr txBox="1"/>
          <p:nvPr/>
        </p:nvSpPr>
        <p:spPr>
          <a:xfrm>
            <a:off x="4724400" y="3289300"/>
            <a:ext cx="27432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 dirty="0">
                <a:solidFill>
                  <a:srgbClr val="FFFFFF"/>
                </a:solidFill>
                <a:latin typeface="Montserrat"/>
              </a:rPr>
              <a:t>Reflect</a:t>
            </a:r>
          </a:p>
        </p:txBody>
      </p:sp>
      <p:sp>
        <p:nvSpPr>
          <p:cNvPr id="28" name="Pillar24Sub"/>
          <p:cNvSpPr txBox="1"/>
          <p:nvPr/>
        </p:nvSpPr>
        <p:spPr>
          <a:xfrm>
            <a:off x="4724400" y="386715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i="1" dirty="0">
                <a:solidFill>
                  <a:srgbClr val="E5E7EB"/>
                </a:solidFill>
                <a:latin typeface="Inter"/>
              </a:rPr>
              <a:t>What can I learn from my last loss?</a:t>
            </a:r>
          </a:p>
        </p:txBody>
      </p:sp>
      <p:sp>
        <p:nvSpPr>
          <p:cNvPr id="29" name="Pillar24Rule"/>
          <p:cNvSpPr>
            <a:spLocks noGrp="1"/>
          </p:cNvSpPr>
          <p:nvPr/>
        </p:nvSpPr>
        <p:spPr>
          <a:xfrm>
            <a:off x="4724400" y="4432300"/>
            <a:ext cx="609600" cy="1905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Pillar24Body"/>
          <p:cNvSpPr txBox="1"/>
          <p:nvPr/>
        </p:nvSpPr>
        <p:spPr>
          <a:xfrm>
            <a:off x="4724400" y="4572000"/>
            <a:ext cx="27432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A Loss Ledger logs every losing trade with a post-mortem and behavioral tag — panic-sell, FOMO, over-concentration — so patterns become visible.</a:t>
            </a:r>
          </a:p>
        </p:txBody>
      </p:sp>
      <p:sp>
        <p:nvSpPr>
          <p:cNvPr id="5" name="Pillar28Bg"/>
          <p:cNvSpPr>
            <a:spLocks noGrp="1"/>
          </p:cNvSpPr>
          <p:nvPr/>
        </p:nvSpPr>
        <p:spPr>
          <a:xfrm>
            <a:off x="8229600" y="2616200"/>
            <a:ext cx="3352800" cy="3048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Pillar28Stripe"/>
          <p:cNvSpPr>
            <a:spLocks noGrp="1"/>
          </p:cNvSpPr>
          <p:nvPr/>
        </p:nvSpPr>
        <p:spPr>
          <a:xfrm>
            <a:off x="8229600" y="2635250"/>
            <a:ext cx="33528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Pillar28Num"/>
          <p:cNvSpPr txBox="1"/>
          <p:nvPr/>
        </p:nvSpPr>
        <p:spPr>
          <a:xfrm>
            <a:off x="8553450" y="288289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22C55E"/>
                </a:solidFill>
                <a:latin typeface="Montserrat"/>
              </a:rPr>
              <a:t>03</a:t>
            </a:r>
          </a:p>
        </p:txBody>
      </p:sp>
      <p:sp>
        <p:nvSpPr>
          <p:cNvPr id="31" name="Pillar28Title"/>
          <p:cNvSpPr txBox="1"/>
          <p:nvPr/>
        </p:nvSpPr>
        <p:spPr>
          <a:xfrm>
            <a:off x="8534400" y="3244849"/>
            <a:ext cx="27432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 dirty="0">
                <a:solidFill>
                  <a:srgbClr val="FFFFFF"/>
                </a:solidFill>
                <a:latin typeface="Montserrat"/>
              </a:rPr>
              <a:t>Grow</a:t>
            </a:r>
          </a:p>
        </p:txBody>
      </p:sp>
      <p:sp>
        <p:nvSpPr>
          <p:cNvPr id="32" name="Pillar28Sub"/>
          <p:cNvSpPr txBox="1"/>
          <p:nvPr/>
        </p:nvSpPr>
        <p:spPr>
          <a:xfrm>
            <a:off x="8534400" y="385445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i="1" dirty="0">
                <a:solidFill>
                  <a:srgbClr val="E5E7EB"/>
                </a:solidFill>
                <a:latin typeface="Inter"/>
              </a:rPr>
              <a:t>Am I actually getting better?</a:t>
            </a:r>
          </a:p>
        </p:txBody>
      </p:sp>
      <p:sp>
        <p:nvSpPr>
          <p:cNvPr id="33" name="Pillar28Rule"/>
          <p:cNvSpPr>
            <a:spLocks noGrp="1"/>
          </p:cNvSpPr>
          <p:nvPr/>
        </p:nvSpPr>
        <p:spPr>
          <a:xfrm>
            <a:off x="8553450" y="4425948"/>
            <a:ext cx="6096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Pillar28Body"/>
          <p:cNvSpPr txBox="1"/>
          <p:nvPr/>
        </p:nvSpPr>
        <p:spPr>
          <a:xfrm>
            <a:off x="8534400" y="4578350"/>
            <a:ext cx="27432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9CA3AF"/>
                </a:solidFill>
                <a:latin typeface="Inter"/>
              </a:rPr>
              <a:t>Literacy score and streaks track decisions against past lessons. Gamified feedback turns every market event into a compounding learning loop.</a:t>
            </a:r>
          </a:p>
        </p:txBody>
      </p:sp>
      <p:sp>
        <p:nvSpPr>
          <p:cNvPr id="60" name="BottomTag"/>
          <p:cNvSpPr txBox="1"/>
          <p:nvPr/>
        </p:nvSpPr>
        <p:spPr>
          <a:xfrm>
            <a:off x="609600" y="5695950"/>
            <a:ext cx="10972800" cy="533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9CA3AF"/>
                </a:solidFill>
                <a:latin typeface="Inter"/>
              </a:rPr>
              <a:t>Explain  </a:t>
            </a:r>
            <a:r>
              <a:rPr lang="en-US" sz="1600" b="1" dirty="0">
                <a:solidFill>
                  <a:srgbClr val="00E5CC"/>
                </a:solidFill>
                <a:latin typeface="Inter"/>
              </a:rPr>
              <a:t>→</a:t>
            </a:r>
            <a:r>
              <a:rPr lang="en-US" sz="1600" dirty="0">
                <a:solidFill>
                  <a:srgbClr val="9CA3AF"/>
                </a:solidFill>
                <a:latin typeface="Inter"/>
              </a:rPr>
              <a:t>  Reflect  </a:t>
            </a:r>
            <a:r>
              <a:rPr lang="en-US" sz="1600" b="1" dirty="0">
                <a:solidFill>
                  <a:srgbClr val="FFB020"/>
                </a:solidFill>
                <a:latin typeface="Inter"/>
              </a:rPr>
              <a:t>→</a:t>
            </a:r>
            <a:r>
              <a:rPr lang="en-US" sz="1600" dirty="0">
                <a:solidFill>
                  <a:srgbClr val="9CA3AF"/>
                </a:solidFill>
                <a:latin typeface="Inter"/>
              </a:rPr>
              <a:t>  Grow.  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One loop, built for India.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The Solution</a:t>
            </a:r>
          </a:p>
        </p:txBody>
      </p:sp>
    </p:spTree>
    <p:extLst>
      <p:ext uri="{BB962C8B-B14F-4D97-AF65-F5344CB8AC3E}">
        <p14:creationId xmlns:p14="http://schemas.microsoft.com/office/powerpoint/2010/main" val="64331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 txBox="1"/>
          <p:nvPr/>
        </p:nvSpPr>
        <p:spPr>
          <a:xfrm>
            <a:off x="609600" y="45720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052A26"/>
          </a:solidFill>
          <a:ln w="12700">
            <a:solidFill>
              <a:srgbClr val="00E5CC"/>
            </a:solidFill>
          </a:ln>
        </p:spPr>
        <p:txBody>
          <a:bodyPr lIns="91440" rIns="91440" anchor="ctr"/>
          <a:lstStyle/>
          <a:p>
            <a:pPr algn="ctr"/>
            <a:r>
              <a:rPr lang="en-US" sz="1100" b="1" dirty="0">
                <a:solidFill>
                  <a:srgbClr val="00E5CC"/>
                </a:solidFill>
                <a:latin typeface="Montserrat"/>
              </a:rPr>
              <a:t>THE USER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838200"/>
            <a:ext cx="109728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Ravi, 26, on Budget Day.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600" dirty="0">
                <a:solidFill>
                  <a:srgbClr val="9CA3AF"/>
                </a:solidFill>
                <a:latin typeface="Inter"/>
              </a:rPr>
              <a:t>Hyderabad. ₹80,000 portfolio. Telugu-first. Two years of trading. Zero causal framework.</a:t>
            </a:r>
          </a:p>
        </p:txBody>
      </p:sp>
      <p:sp>
        <p:nvSpPr>
          <p:cNvPr id="20" name="LeftCol"/>
          <p:cNvSpPr>
            <a:spLocks noGrp="1"/>
          </p:cNvSpPr>
          <p:nvPr/>
        </p:nvSpPr>
        <p:spPr>
          <a:xfrm>
            <a:off x="609600" y="1924050"/>
            <a:ext cx="5181600" cy="3200400"/>
          </a:xfrm>
          <a:prstGeom prst="roundRect">
            <a:avLst>
              <a:gd name="adj" fmla="val 4000"/>
            </a:avLst>
          </a:prstGeom>
          <a:solidFill>
            <a:srgbClr val="141830"/>
          </a:solidFill>
          <a:ln w="12700">
            <a:solidFill>
              <a:srgbClr val="2A0F1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eftHeader"/>
          <p:cNvSpPr>
            <a:spLocks noGrp="1"/>
          </p:cNvSpPr>
          <p:nvPr/>
        </p:nvSpPr>
        <p:spPr>
          <a:xfrm>
            <a:off x="609600" y="1924050"/>
            <a:ext cx="5181600" cy="609600"/>
          </a:xfrm>
          <a:prstGeom prst="rect">
            <a:avLst/>
          </a:prstGeom>
          <a:solidFill>
            <a:srgbClr val="2A0F12"/>
          </a:solidFill>
          <a:ln>
            <a:noFill/>
          </a:ln>
        </p:spPr>
        <p:txBody>
          <a:bodyPr lIns="304800" rIns="304800" anchor="ctr"/>
          <a:lstStyle/>
          <a:p>
            <a:r>
              <a:rPr lang="en-US" sz="1100" b="1" dirty="0">
                <a:solidFill>
                  <a:srgbClr val="EF4444"/>
                </a:solidFill>
                <a:latin typeface="Montserrat"/>
              </a:rPr>
              <a:t>WITHOUT MOVE  </a:t>
            </a:r>
            <a:r>
              <a:rPr lang="en-US" sz="1400" b="1" dirty="0">
                <a:solidFill>
                  <a:srgbClr val="FFFFFF"/>
                </a:solidFill>
                <a:latin typeface="Montserrat"/>
              </a:rPr>
              <a:t>Reaction</a:t>
            </a:r>
          </a:p>
        </p:txBody>
      </p:sp>
      <p:sp>
        <p:nvSpPr>
          <p:cNvPr id="30" name="LeftStep0Icon"/>
          <p:cNvSpPr txBox="1"/>
          <p:nvPr/>
        </p:nvSpPr>
        <p:spPr>
          <a:xfrm>
            <a:off x="914400" y="26860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📉</a:t>
            </a:r>
          </a:p>
        </p:txBody>
      </p:sp>
      <p:sp>
        <p:nvSpPr>
          <p:cNvPr id="31" name="LeftStep0Text"/>
          <p:cNvSpPr txBox="1"/>
          <p:nvPr/>
        </p:nvSpPr>
        <p:spPr>
          <a:xfrm>
            <a:off x="1447800" y="27622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Portfolio down 3.8% after Budget speech</a:t>
            </a:r>
          </a:p>
        </p:txBody>
      </p:sp>
      <p:sp>
        <p:nvSpPr>
          <p:cNvPr id="32" name="LeftStep1Icon"/>
          <p:cNvSpPr txBox="1"/>
          <p:nvPr/>
        </p:nvSpPr>
        <p:spPr>
          <a:xfrm>
            <a:off x="914400" y="32956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33" name="LeftStep1Text"/>
          <p:cNvSpPr txBox="1"/>
          <p:nvPr/>
        </p:nvSpPr>
        <p:spPr>
          <a:xfrm>
            <a:off x="1447800" y="33718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Three conflicting WhatsApp tips in 10 minutes</a:t>
            </a:r>
          </a:p>
        </p:txBody>
      </p:sp>
      <p:sp>
        <p:nvSpPr>
          <p:cNvPr id="34" name="LeftStep2Icon"/>
          <p:cNvSpPr txBox="1"/>
          <p:nvPr/>
        </p:nvSpPr>
        <p:spPr>
          <a:xfrm>
            <a:off x="914400" y="39052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😰</a:t>
            </a:r>
          </a:p>
        </p:txBody>
      </p:sp>
      <p:sp>
        <p:nvSpPr>
          <p:cNvPr id="35" name="LeftStep2Text"/>
          <p:cNvSpPr txBox="1"/>
          <p:nvPr/>
        </p:nvSpPr>
        <p:spPr>
          <a:xfrm>
            <a:off x="1447800" y="39814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Panic-sells TCS and HDFC Bank at the lows</a:t>
            </a:r>
          </a:p>
        </p:txBody>
      </p:sp>
      <p:sp>
        <p:nvSpPr>
          <p:cNvPr id="36" name="LeftStep3Icon"/>
          <p:cNvSpPr txBox="1"/>
          <p:nvPr/>
        </p:nvSpPr>
        <p:spPr>
          <a:xfrm>
            <a:off x="914400" y="45148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🔒</a:t>
            </a:r>
          </a:p>
        </p:txBody>
      </p:sp>
      <p:sp>
        <p:nvSpPr>
          <p:cNvPr id="37" name="LeftStep3Text"/>
          <p:cNvSpPr txBox="1"/>
          <p:nvPr/>
        </p:nvSpPr>
        <p:spPr>
          <a:xfrm>
            <a:off x="1447800" y="45910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Locks in the loss. No idea why it happened.</a:t>
            </a:r>
          </a:p>
        </p:txBody>
      </p:sp>
      <p:sp>
        <p:nvSpPr>
          <p:cNvPr id="50" name="RightCol"/>
          <p:cNvSpPr>
            <a:spLocks noGrp="1"/>
          </p:cNvSpPr>
          <p:nvPr/>
        </p:nvSpPr>
        <p:spPr>
          <a:xfrm>
            <a:off x="6400800" y="1924050"/>
            <a:ext cx="5181600" cy="3200400"/>
          </a:xfrm>
          <a:prstGeom prst="roundRect">
            <a:avLst>
              <a:gd name="adj" fmla="val 4000"/>
            </a:avLst>
          </a:prstGeom>
          <a:solidFill>
            <a:srgbClr val="141830"/>
          </a:solidFill>
          <a:ln w="12700">
            <a:solidFill>
              <a:srgbClr val="052A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ightHeader"/>
          <p:cNvSpPr>
            <a:spLocks noGrp="1"/>
          </p:cNvSpPr>
          <p:nvPr/>
        </p:nvSpPr>
        <p:spPr>
          <a:xfrm>
            <a:off x="6400800" y="1924050"/>
            <a:ext cx="5181600" cy="609600"/>
          </a:xfrm>
          <a:prstGeom prst="rect">
            <a:avLst/>
          </a:prstGeom>
          <a:solidFill>
            <a:srgbClr val="052A26"/>
          </a:solidFill>
          <a:ln>
            <a:noFill/>
          </a:ln>
        </p:spPr>
        <p:txBody>
          <a:bodyPr lIns="304800" rIns="304800" anchor="ctr"/>
          <a:lstStyle/>
          <a:p>
            <a:r>
              <a:rPr lang="en-US" sz="1100" b="1" dirty="0">
                <a:solidFill>
                  <a:srgbClr val="00E5CC"/>
                </a:solidFill>
                <a:latin typeface="Montserrat"/>
              </a:rPr>
              <a:t>WITH MOVE  </a:t>
            </a:r>
            <a:r>
              <a:rPr lang="en-US" sz="1400" b="1" dirty="0">
                <a:solidFill>
                  <a:srgbClr val="FFFFFF"/>
                </a:solidFill>
                <a:latin typeface="Montserrat"/>
              </a:rPr>
              <a:t>Reasoning</a:t>
            </a:r>
          </a:p>
        </p:txBody>
      </p:sp>
      <p:sp>
        <p:nvSpPr>
          <p:cNvPr id="60" name="RightStep0Icon"/>
          <p:cNvSpPr txBox="1"/>
          <p:nvPr/>
        </p:nvSpPr>
        <p:spPr>
          <a:xfrm>
            <a:off x="6705600" y="26860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61" name="RightStep0Text"/>
          <p:cNvSpPr txBox="1"/>
          <p:nvPr/>
        </p:nvSpPr>
        <p:spPr>
          <a:xfrm>
            <a:off x="7239000" y="27622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Opens Move at 4 PM — sees today's Why Card</a:t>
            </a:r>
          </a:p>
        </p:txBody>
      </p:sp>
      <p:sp>
        <p:nvSpPr>
          <p:cNvPr id="62" name="RightStep1Icon"/>
          <p:cNvSpPr txBox="1"/>
          <p:nvPr/>
        </p:nvSpPr>
        <p:spPr>
          <a:xfrm>
            <a:off x="6705600" y="32956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🗣️</a:t>
            </a:r>
          </a:p>
        </p:txBody>
      </p:sp>
      <p:sp>
        <p:nvSpPr>
          <p:cNvPr id="63" name="RightStep1Text"/>
          <p:cNvSpPr txBox="1"/>
          <p:nvPr/>
        </p:nvSpPr>
        <p:spPr>
          <a:xfrm>
            <a:off x="7239000" y="33718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Reads Telugu explanation: Budget-day FII selling, sector wide</a:t>
            </a:r>
          </a:p>
        </p:txBody>
      </p:sp>
      <p:sp>
        <p:nvSpPr>
          <p:cNvPr id="64" name="RightStep2Icon"/>
          <p:cNvSpPr txBox="1"/>
          <p:nvPr/>
        </p:nvSpPr>
        <p:spPr>
          <a:xfrm>
            <a:off x="6705600" y="39052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65" name="RightStep2Text"/>
          <p:cNvSpPr txBox="1"/>
          <p:nvPr/>
        </p:nvSpPr>
        <p:spPr>
          <a:xfrm>
            <a:off x="7239000" y="39814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Sees 2014 &amp; 2019 Budget recovery patterns in 7-14 days</a:t>
            </a:r>
          </a:p>
        </p:txBody>
      </p:sp>
      <p:sp>
        <p:nvSpPr>
          <p:cNvPr id="66" name="RightStep3Icon"/>
          <p:cNvSpPr txBox="1"/>
          <p:nvPr/>
        </p:nvSpPr>
        <p:spPr>
          <a:xfrm>
            <a:off x="6705600" y="451485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67" name="RightStep3Text"/>
          <p:cNvSpPr txBox="1"/>
          <p:nvPr/>
        </p:nvSpPr>
        <p:spPr>
          <a:xfrm>
            <a:off x="7239000" y="45910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E5E7EB"/>
                </a:solidFill>
                <a:latin typeface="Inter"/>
              </a:rPr>
              <a:t>Loss Ledger reminds him: last panic-sell cost him 12%</a:t>
            </a:r>
          </a:p>
        </p:txBody>
      </p:sp>
      <p:sp>
        <p:nvSpPr>
          <p:cNvPr id="80" name="LeftOutcome"/>
          <p:cNvSpPr txBox="1"/>
          <p:nvPr/>
        </p:nvSpPr>
        <p:spPr>
          <a:xfrm>
            <a:off x="609600" y="5200650"/>
            <a:ext cx="5181600" cy="381000"/>
          </a:xfrm>
          <a:prstGeom prst="rect">
            <a:avLst/>
          </a:prstGeom>
          <a:noFill/>
        </p:spPr>
        <p:txBody>
          <a:bodyPr wrap="square" lIns="304800" rIns="304800" anchor="ctr"/>
          <a:lstStyle/>
          <a:p>
            <a:r>
              <a:rPr lang="en-US" sz="1600" b="1" dirty="0">
                <a:solidFill>
                  <a:srgbClr val="EF4444"/>
                </a:solidFill>
                <a:latin typeface="Montserrat"/>
              </a:rPr>
              <a:t>Outcome: –₹9,400. No lesson learned.</a:t>
            </a:r>
          </a:p>
        </p:txBody>
      </p:sp>
      <p:sp>
        <p:nvSpPr>
          <p:cNvPr id="81" name="RightOutcome"/>
          <p:cNvSpPr txBox="1"/>
          <p:nvPr/>
        </p:nvSpPr>
        <p:spPr>
          <a:xfrm>
            <a:off x="6400800" y="5200650"/>
            <a:ext cx="5181600" cy="381000"/>
          </a:xfrm>
          <a:prstGeom prst="rect">
            <a:avLst/>
          </a:prstGeom>
          <a:noFill/>
        </p:spPr>
        <p:txBody>
          <a:bodyPr wrap="square" lIns="304800" rIns="304800" anchor="ctr"/>
          <a:lstStyle/>
          <a:p>
            <a:r>
              <a:rPr lang="en-US" sz="1600" b="1" dirty="0">
                <a:solidFill>
                  <a:srgbClr val="00E5CC"/>
                </a:solidFill>
                <a:latin typeface="Montserrat"/>
              </a:rPr>
              <a:t>Outcome: waits. Recovers. Pattern tagged.</a:t>
            </a:r>
          </a:p>
        </p:txBody>
      </p:sp>
      <p:sp>
        <p:nvSpPr>
          <p:cNvPr id="90" name="Takeaway"/>
          <p:cNvSpPr txBox="1"/>
          <p:nvPr/>
        </p:nvSpPr>
        <p:spPr>
          <a:xfrm>
            <a:off x="609600" y="586740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9CA3AF"/>
                </a:solidFill>
                <a:latin typeface="Inter"/>
              </a:rPr>
              <a:t>Over time, Move replaces </a:t>
            </a:r>
            <a:r>
              <a:rPr lang="en-US" sz="1800" b="1" dirty="0">
                <a:solidFill>
                  <a:srgbClr val="EF4444"/>
                </a:solidFill>
                <a:latin typeface="Inter"/>
              </a:rPr>
              <a:t>reaction</a:t>
            </a:r>
            <a:r>
              <a:rPr lang="en-US" sz="1800" dirty="0">
                <a:solidFill>
                  <a:srgbClr val="9CA3AF"/>
                </a:solidFill>
                <a:latin typeface="Inter"/>
              </a:rPr>
              <a:t> with </a:t>
            </a:r>
            <a:r>
              <a:rPr lang="en-US" sz="1800" b="1" dirty="0">
                <a:solidFill>
                  <a:srgbClr val="00E5CC"/>
                </a:solidFill>
                <a:latin typeface="Inter"/>
              </a:rPr>
              <a:t>reasoning</a:t>
            </a:r>
            <a:r>
              <a:rPr lang="en-US" sz="1800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User Story</a:t>
            </a:r>
          </a:p>
        </p:txBody>
      </p:sp>
    </p:spTree>
    <p:extLst>
      <p:ext uri="{BB962C8B-B14F-4D97-AF65-F5344CB8AC3E}">
        <p14:creationId xmlns:p14="http://schemas.microsoft.com/office/powerpoint/2010/main" val="266359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 txBox="1"/>
          <p:nvPr/>
        </p:nvSpPr>
        <p:spPr>
          <a:xfrm>
            <a:off x="609600" y="45720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052A26"/>
          </a:solidFill>
          <a:ln w="12700">
            <a:solidFill>
              <a:srgbClr val="00E5CC"/>
            </a:solidFill>
          </a:ln>
        </p:spPr>
        <p:txBody>
          <a:bodyPr lIns="91440" rIns="91440" anchor="ctr"/>
          <a:lstStyle/>
          <a:p>
            <a:pPr algn="ctr"/>
            <a:r>
              <a:rPr lang="en-US" sz="1100" b="1" dirty="0">
                <a:solidFill>
                  <a:srgbClr val="00E5CC"/>
                </a:solidFill>
                <a:latin typeface="Montserrat"/>
              </a:rPr>
              <a:t>THE PRODUCT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838200"/>
            <a:ext cx="109728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Four features. One learning loop.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600" dirty="0">
                <a:solidFill>
                  <a:srgbClr val="9CA3AF"/>
                </a:solidFill>
                <a:latin typeface="Inter"/>
              </a:rPr>
              <a:t>Each surface answers one question a retail investor actually asks — in their own language.</a:t>
            </a:r>
          </a:p>
        </p:txBody>
      </p:sp>
      <p:sp>
        <p:nvSpPr>
          <p:cNvPr id="20" name="Feat20Bg"/>
          <p:cNvSpPr>
            <a:spLocks noGrp="1"/>
          </p:cNvSpPr>
          <p:nvPr/>
        </p:nvSpPr>
        <p:spPr>
          <a:xfrm>
            <a:off x="609600" y="1905000"/>
            <a:ext cx="5372100" cy="1600200"/>
          </a:xfrm>
          <a:prstGeom prst="roundRect">
            <a:avLst>
              <a:gd name="adj" fmla="val 5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Feat20Bar"/>
          <p:cNvSpPr>
            <a:spLocks noGrp="1"/>
          </p:cNvSpPr>
          <p:nvPr/>
        </p:nvSpPr>
        <p:spPr>
          <a:xfrm>
            <a:off x="609600" y="1905000"/>
            <a:ext cx="76200" cy="16002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Feat20Tag"/>
          <p:cNvSpPr txBox="1"/>
          <p:nvPr/>
        </p:nvSpPr>
        <p:spPr>
          <a:xfrm>
            <a:off x="914400" y="21336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en-US" sz="900" b="1" dirty="0">
                <a:solidFill>
                  <a:srgbClr val="0B1020"/>
                </a:solidFill>
                <a:latin typeface="Montserrat"/>
              </a:rPr>
              <a:t>DAILY</a:t>
            </a:r>
          </a:p>
        </p:txBody>
      </p:sp>
      <p:sp>
        <p:nvSpPr>
          <p:cNvPr id="23" name="Feat20Title"/>
          <p:cNvSpPr txBox="1"/>
          <p:nvPr/>
        </p:nvSpPr>
        <p:spPr>
          <a:xfrm>
            <a:off x="914400" y="24384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400" b="1" dirty="0">
                <a:solidFill>
                  <a:srgbClr val="FFFFFF"/>
                </a:solidFill>
                <a:latin typeface="Montserrat"/>
              </a:rPr>
              <a:t>Why Card</a:t>
            </a:r>
          </a:p>
        </p:txBody>
      </p:sp>
      <p:sp>
        <p:nvSpPr>
          <p:cNvPr id="24" name="Feat20Q"/>
          <p:cNvSpPr txBox="1"/>
          <p:nvPr/>
        </p:nvSpPr>
        <p:spPr>
          <a:xfrm>
            <a:off x="914400" y="28194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00E5CC"/>
                </a:solidFill>
                <a:latin typeface="Inter"/>
              </a:rPr>
              <a:t>Why did my portfolio move today?</a:t>
            </a:r>
          </a:p>
        </p:txBody>
      </p:sp>
      <p:sp>
        <p:nvSpPr>
          <p:cNvPr id="25" name="Feat20Body"/>
          <p:cNvSpPr txBox="1"/>
          <p:nvPr/>
        </p:nvSpPr>
        <p:spPr>
          <a:xfrm>
            <a:off x="914400" y="30861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9CA3AF"/>
                </a:solidFill>
                <a:latin typeface="Inter"/>
              </a:rPr>
              <a:t>One-glance summary of the day's moves, ranked by driver: stock news, sector, macro — with source links.</a:t>
            </a:r>
          </a:p>
        </p:txBody>
      </p:sp>
      <p:sp>
        <p:nvSpPr>
          <p:cNvPr id="26" name="Feat26Bg"/>
          <p:cNvSpPr>
            <a:spLocks noGrp="1"/>
          </p:cNvSpPr>
          <p:nvPr/>
        </p:nvSpPr>
        <p:spPr>
          <a:xfrm>
            <a:off x="6209400" y="1905000"/>
            <a:ext cx="5372100" cy="1600200"/>
          </a:xfrm>
          <a:prstGeom prst="roundRect">
            <a:avLst>
              <a:gd name="adj" fmla="val 5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Feat26Bar"/>
          <p:cNvSpPr>
            <a:spLocks noGrp="1"/>
          </p:cNvSpPr>
          <p:nvPr/>
        </p:nvSpPr>
        <p:spPr>
          <a:xfrm>
            <a:off x="6209400" y="1905000"/>
            <a:ext cx="7620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Feat26Tag"/>
          <p:cNvSpPr txBox="1"/>
          <p:nvPr/>
        </p:nvSpPr>
        <p:spPr>
          <a:xfrm>
            <a:off x="6514200" y="21336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en-US" sz="900" b="1" dirty="0">
                <a:solidFill>
                  <a:srgbClr val="0B1020"/>
                </a:solidFill>
                <a:latin typeface="Montserrat"/>
              </a:rPr>
              <a:t>ON-LOSS</a:t>
            </a:r>
          </a:p>
        </p:txBody>
      </p:sp>
      <p:sp>
        <p:nvSpPr>
          <p:cNvPr id="29" name="Feat26Title"/>
          <p:cNvSpPr txBox="1"/>
          <p:nvPr/>
        </p:nvSpPr>
        <p:spPr>
          <a:xfrm>
            <a:off x="6514200" y="24384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400" b="1" dirty="0">
                <a:solidFill>
                  <a:srgbClr val="FFFFFF"/>
                </a:solidFill>
                <a:latin typeface="Montserrat"/>
              </a:rPr>
              <a:t>Loss Ledger</a:t>
            </a:r>
          </a:p>
        </p:txBody>
      </p:sp>
      <p:sp>
        <p:nvSpPr>
          <p:cNvPr id="30" name="Feat26Q"/>
          <p:cNvSpPr txBox="1"/>
          <p:nvPr/>
        </p:nvSpPr>
        <p:spPr>
          <a:xfrm>
            <a:off x="6514200" y="28194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EF4444"/>
                </a:solidFill>
                <a:latin typeface="Inter"/>
              </a:rPr>
              <a:t>What can I learn from my last loss?</a:t>
            </a:r>
          </a:p>
        </p:txBody>
      </p:sp>
      <p:sp>
        <p:nvSpPr>
          <p:cNvPr id="31" name="Feat26Body"/>
          <p:cNvSpPr txBox="1"/>
          <p:nvPr/>
        </p:nvSpPr>
        <p:spPr>
          <a:xfrm>
            <a:off x="6514200" y="30861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9CA3AF"/>
                </a:solidFill>
                <a:latin typeface="Inter"/>
              </a:rPr>
              <a:t>Post-mortem on every losing trade with behavioral tags — panic-sell, FOMO, over-concentration. Patterns become visible.</a:t>
            </a:r>
          </a:p>
        </p:txBody>
      </p:sp>
      <p:sp>
        <p:nvSpPr>
          <p:cNvPr id="32" name="Feat32Bg"/>
          <p:cNvSpPr>
            <a:spLocks noGrp="1"/>
          </p:cNvSpPr>
          <p:nvPr/>
        </p:nvSpPr>
        <p:spPr>
          <a:xfrm>
            <a:off x="609600" y="3619500"/>
            <a:ext cx="5372100" cy="1600200"/>
          </a:xfrm>
          <a:prstGeom prst="roundRect">
            <a:avLst>
              <a:gd name="adj" fmla="val 5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Feat32Bar"/>
          <p:cNvSpPr>
            <a:spLocks noGrp="1"/>
          </p:cNvSpPr>
          <p:nvPr/>
        </p:nvSpPr>
        <p:spPr>
          <a:xfrm>
            <a:off x="609600" y="3619500"/>
            <a:ext cx="76200" cy="16002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Feat32Tag"/>
          <p:cNvSpPr txBox="1"/>
          <p:nvPr/>
        </p:nvSpPr>
        <p:spPr>
          <a:xfrm>
            <a:off x="914400" y="38481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en-US" sz="900" b="1" dirty="0">
                <a:solidFill>
                  <a:srgbClr val="0B1020"/>
                </a:solidFill>
                <a:latin typeface="Montserrat"/>
              </a:rPr>
              <a:t>ON-EVENT</a:t>
            </a:r>
          </a:p>
        </p:txBody>
      </p:sp>
      <p:sp>
        <p:nvSpPr>
          <p:cNvPr id="35" name="Feat32Title"/>
          <p:cNvSpPr txBox="1"/>
          <p:nvPr/>
        </p:nvSpPr>
        <p:spPr>
          <a:xfrm>
            <a:off x="914400" y="41529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400" b="1" dirty="0">
                <a:solidFill>
                  <a:srgbClr val="FFFFFF"/>
                </a:solidFill>
                <a:latin typeface="Montserrat"/>
              </a:rPr>
              <a:t>Event Explainer</a:t>
            </a:r>
          </a:p>
        </p:txBody>
      </p:sp>
      <p:sp>
        <p:nvSpPr>
          <p:cNvPr id="36" name="Feat32Q"/>
          <p:cNvSpPr txBox="1"/>
          <p:nvPr/>
        </p:nvSpPr>
        <p:spPr>
          <a:xfrm>
            <a:off x="914400" y="45339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FFB020"/>
                </a:solidFill>
                <a:latin typeface="Inter"/>
              </a:rPr>
              <a:t>How does Budget Day affect my holdings?</a:t>
            </a:r>
          </a:p>
        </p:txBody>
      </p:sp>
      <p:sp>
        <p:nvSpPr>
          <p:cNvPr id="37" name="Feat32Body"/>
          <p:cNvSpPr txBox="1"/>
          <p:nvPr/>
        </p:nvSpPr>
        <p:spPr>
          <a:xfrm>
            <a:off x="914400" y="48006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9CA3AF"/>
                </a:solidFill>
                <a:latin typeface="Inter"/>
              </a:rPr>
              <a:t>Real-time read on macro events: Budget, RBI policy, FII flows, big earnings — filtered to your actual portfolio, not a generic view.</a:t>
            </a:r>
          </a:p>
        </p:txBody>
      </p:sp>
      <p:sp>
        <p:nvSpPr>
          <p:cNvPr id="38" name="Feat38Bg"/>
          <p:cNvSpPr>
            <a:spLocks noGrp="1"/>
          </p:cNvSpPr>
          <p:nvPr/>
        </p:nvSpPr>
        <p:spPr>
          <a:xfrm>
            <a:off x="6209400" y="3619500"/>
            <a:ext cx="5372100" cy="1600200"/>
          </a:xfrm>
          <a:prstGeom prst="roundRect">
            <a:avLst>
              <a:gd name="adj" fmla="val 5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Feat38Bar"/>
          <p:cNvSpPr>
            <a:spLocks noGrp="1"/>
          </p:cNvSpPr>
          <p:nvPr/>
        </p:nvSpPr>
        <p:spPr>
          <a:xfrm>
            <a:off x="6209400" y="3619500"/>
            <a:ext cx="76200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Feat38Tag"/>
          <p:cNvSpPr txBox="1"/>
          <p:nvPr/>
        </p:nvSpPr>
        <p:spPr>
          <a:xfrm>
            <a:off x="6514200" y="38481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en-US" sz="900" b="1" dirty="0">
                <a:solidFill>
                  <a:srgbClr val="0B1020"/>
                </a:solidFill>
                <a:latin typeface="Montserrat"/>
              </a:rPr>
              <a:t>WEEKLY</a:t>
            </a:r>
          </a:p>
        </p:txBody>
      </p:sp>
      <p:sp>
        <p:nvSpPr>
          <p:cNvPr id="41" name="Feat38Title"/>
          <p:cNvSpPr txBox="1"/>
          <p:nvPr/>
        </p:nvSpPr>
        <p:spPr>
          <a:xfrm>
            <a:off x="6514200" y="41529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400" b="1" dirty="0">
                <a:solidFill>
                  <a:srgbClr val="FFFFFF"/>
                </a:solidFill>
                <a:latin typeface="Montserrat"/>
              </a:rPr>
              <a:t>Literacy Score</a:t>
            </a:r>
          </a:p>
        </p:txBody>
      </p:sp>
      <p:sp>
        <p:nvSpPr>
          <p:cNvPr id="42" name="Feat38Q"/>
          <p:cNvSpPr txBox="1"/>
          <p:nvPr/>
        </p:nvSpPr>
        <p:spPr>
          <a:xfrm>
            <a:off x="6514200" y="45339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22C55E"/>
                </a:solidFill>
                <a:latin typeface="Inter"/>
              </a:rPr>
              <a:t>Am I actually getting better?</a:t>
            </a:r>
          </a:p>
        </p:txBody>
      </p:sp>
      <p:sp>
        <p:nvSpPr>
          <p:cNvPr id="43" name="Feat38Body"/>
          <p:cNvSpPr txBox="1"/>
          <p:nvPr/>
        </p:nvSpPr>
        <p:spPr>
          <a:xfrm>
            <a:off x="6514200" y="480060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9CA3AF"/>
                </a:solidFill>
                <a:latin typeface="Inter"/>
              </a:rPr>
              <a:t>Tracks decisions against past lessons. Gamified streaks (e.g. "didn't panic-sell on shock") and a score that reflects improving investor judgment.</a:t>
            </a:r>
          </a:p>
        </p:txBody>
      </p:sp>
      <p:sp>
        <p:nvSpPr>
          <p:cNvPr id="60" name="ExampleBox"/>
          <p:cNvSpPr>
            <a:spLocks noGrp="1"/>
          </p:cNvSpPr>
          <p:nvPr/>
        </p:nvSpPr>
        <p:spPr>
          <a:xfrm>
            <a:off x="609600" y="5410200"/>
            <a:ext cx="10972800" cy="609600"/>
          </a:xfrm>
          <a:prstGeom prst="roundRect">
            <a:avLst>
              <a:gd name="adj" fmla="val 8000"/>
            </a:avLst>
          </a:prstGeom>
          <a:solidFill>
            <a:srgbClr val="052A26"/>
          </a:solidFill>
          <a:ln w="12700">
            <a:solidFill>
              <a:srgbClr val="00E5CC"/>
            </a:solidFill>
          </a:ln>
        </p:spPr>
        <p:txBody>
          <a:bodyPr wrap="square" lIns="228600" rIns="228600" anchor="ctr"/>
          <a:lstStyle/>
          <a:p>
            <a:r>
              <a:rPr lang="en-US" sz="1100" b="1" dirty="0">
                <a:solidFill>
                  <a:srgbClr val="00E5CC"/>
                </a:solidFill>
                <a:latin typeface="Montserrat"/>
              </a:rPr>
              <a:t>EXAMPLE WHY CARD   </a:t>
            </a:r>
            <a:r>
              <a:rPr lang="en-US" sz="1400" dirty="0">
                <a:solidFill>
                  <a:srgbClr val="E5E7EB"/>
                </a:solidFill>
                <a:latin typeface="Inter"/>
              </a:rPr>
              <a:t>“TCS fell 4.2% today — </a:t>
            </a:r>
            <a:r>
              <a:rPr lang="en-US" sz="1400" b="1" dirty="0">
                <a:solidFill>
                  <a:srgbClr val="00E5CC"/>
                </a:solidFill>
                <a:latin typeface="Inter"/>
              </a:rPr>
              <a:t>58% sector spillover</a:t>
            </a:r>
            <a:r>
              <a:rPr lang="en-US" sz="1400" dirty="0">
                <a:solidFill>
                  <a:srgbClr val="E5E7EB"/>
                </a:solidFill>
                <a:latin typeface="Inter"/>
              </a:rPr>
              <a:t>, </a:t>
            </a:r>
            <a:r>
              <a:rPr lang="en-US" sz="1400" b="1" dirty="0">
                <a:solidFill>
                  <a:srgbClr val="FFB020"/>
                </a:solidFill>
                <a:latin typeface="Inter"/>
              </a:rPr>
              <a:t>27% macro/FII pressure</a:t>
            </a:r>
            <a:r>
              <a:rPr lang="en-US" sz="1400" dirty="0">
                <a:solidFill>
                  <a:srgbClr val="E5E7EB"/>
                </a:solidFill>
                <a:latin typeface="Inter"/>
              </a:rPr>
              <a:t>, </a:t>
            </a:r>
            <a:r>
              <a:rPr lang="en-US" sz="1400" b="1" dirty="0">
                <a:solidFill>
                  <a:srgbClr val="9CA3AF"/>
                </a:solidFill>
                <a:latin typeface="Inter"/>
              </a:rPr>
              <a:t>15% normal volatility</a:t>
            </a:r>
            <a:r>
              <a:rPr lang="en-US" sz="1400" dirty="0">
                <a:solidFill>
                  <a:srgbClr val="E5E7EB"/>
                </a:solidFill>
                <a:latin typeface="Inter"/>
              </a:rPr>
              <a:t>.”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Product</a:t>
            </a:r>
          </a:p>
        </p:txBody>
      </p:sp>
    </p:spTree>
    <p:extLst>
      <p:ext uri="{BB962C8B-B14F-4D97-AF65-F5344CB8AC3E}">
        <p14:creationId xmlns:p14="http://schemas.microsoft.com/office/powerpoint/2010/main" val="73146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 txBox="1"/>
          <p:nvPr/>
        </p:nvSpPr>
        <p:spPr>
          <a:xfrm>
            <a:off x="609600" y="4572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052A26"/>
          </a:solidFill>
          <a:ln w="12700">
            <a:solidFill>
              <a:srgbClr val="00E5CC"/>
            </a:solidFill>
          </a:ln>
        </p:spPr>
        <p:txBody>
          <a:bodyPr lIns="91440" rIns="91440" anchor="ctr"/>
          <a:lstStyle/>
          <a:p>
            <a:pPr algn="ctr"/>
            <a:r>
              <a:rPr lang="en-US" sz="1100" b="1" dirty="0">
                <a:solidFill>
                  <a:srgbClr val="00E5CC"/>
                </a:solidFill>
                <a:latin typeface="Montserrat"/>
              </a:rPr>
              <a:t>HOW IT WORKS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A hybrid quant + AI explainability engine.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09600" y="1600200"/>
            <a:ext cx="10972800" cy="431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600" dirty="0">
                <a:solidFill>
                  <a:srgbClr val="9CA3AF"/>
                </a:solidFill>
                <a:latin typeface="Inter"/>
              </a:rPr>
              <a:t>Statistics provide rigor. LLMs turn that rigor into explanations any 25-year-old can read.</a:t>
            </a:r>
          </a:p>
        </p:txBody>
      </p:sp>
      <p:sp>
        <p:nvSpPr>
          <p:cNvPr id="20" name="Layer20Bg"/>
          <p:cNvSpPr>
            <a:spLocks noGrp="1"/>
          </p:cNvSpPr>
          <p:nvPr/>
        </p:nvSpPr>
        <p:spPr>
          <a:xfrm>
            <a:off x="609600" y="21082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ayer20Bar"/>
          <p:cNvSpPr>
            <a:spLocks noGrp="1"/>
          </p:cNvSpPr>
          <p:nvPr/>
        </p:nvSpPr>
        <p:spPr>
          <a:xfrm>
            <a:off x="609600" y="2108200"/>
            <a:ext cx="76200" cy="7620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yer20Num"/>
          <p:cNvSpPr txBox="1"/>
          <p:nvPr/>
        </p:nvSpPr>
        <p:spPr>
          <a:xfrm>
            <a:off x="838200" y="22606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00E5CC"/>
                </a:solidFill>
                <a:latin typeface="Montserrat"/>
              </a:rPr>
              <a:t>01</a:t>
            </a:r>
          </a:p>
        </p:txBody>
      </p:sp>
      <p:sp>
        <p:nvSpPr>
          <p:cNvPr id="23" name="Layer20Title"/>
          <p:cNvSpPr txBox="1"/>
          <p:nvPr/>
        </p:nvSpPr>
        <p:spPr>
          <a:xfrm>
            <a:off x="1752600" y="2260600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Data Ingestion</a:t>
            </a:r>
          </a:p>
        </p:txBody>
      </p:sp>
      <p:sp>
        <p:nvSpPr>
          <p:cNvPr id="24" name="Layer20Body"/>
          <p:cNvSpPr txBox="1"/>
          <p:nvPr/>
        </p:nvSpPr>
        <p:spPr>
          <a:xfrm>
            <a:off x="4800600" y="2260600"/>
            <a:ext cx="655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9CA3AF"/>
                </a:solidFill>
                <a:latin typeface="Inter"/>
              </a:rPr>
              <a:t>NSE/BSE prices, SEBI filings, earnings transcripts, RBI &amp; macro data, news feeds, public sentiment.</a:t>
            </a:r>
          </a:p>
        </p:txBody>
      </p:sp>
      <p:sp>
        <p:nvSpPr>
          <p:cNvPr id="26" name="Layer26Bg"/>
          <p:cNvSpPr>
            <a:spLocks noGrp="1"/>
          </p:cNvSpPr>
          <p:nvPr/>
        </p:nvSpPr>
        <p:spPr>
          <a:xfrm>
            <a:off x="609600" y="29845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ayer26Bar"/>
          <p:cNvSpPr>
            <a:spLocks noGrp="1"/>
          </p:cNvSpPr>
          <p:nvPr/>
        </p:nvSpPr>
        <p:spPr>
          <a:xfrm>
            <a:off x="609600" y="2984500"/>
            <a:ext cx="76200" cy="7620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Layer26Num"/>
          <p:cNvSpPr txBox="1"/>
          <p:nvPr/>
        </p:nvSpPr>
        <p:spPr>
          <a:xfrm>
            <a:off x="838200" y="31369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FFB020"/>
                </a:solidFill>
                <a:latin typeface="Montserrat"/>
              </a:rPr>
              <a:t>02</a:t>
            </a:r>
          </a:p>
        </p:txBody>
      </p:sp>
      <p:sp>
        <p:nvSpPr>
          <p:cNvPr id="29" name="Layer26Title"/>
          <p:cNvSpPr txBox="1"/>
          <p:nvPr/>
        </p:nvSpPr>
        <p:spPr>
          <a:xfrm>
            <a:off x="1752600" y="3136900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Causal Inference Engine</a:t>
            </a:r>
          </a:p>
        </p:txBody>
      </p:sp>
      <p:sp>
        <p:nvSpPr>
          <p:cNvPr id="30" name="Layer26Body"/>
          <p:cNvSpPr txBox="1"/>
          <p:nvPr/>
        </p:nvSpPr>
        <p:spPr>
          <a:xfrm>
            <a:off x="4800600" y="3136900"/>
            <a:ext cx="655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9CA3AF"/>
                </a:solidFill>
                <a:latin typeface="Inter"/>
              </a:rPr>
              <a:t>Event studies, factor decomposition (market/sector/macro/momentum), attribution logic — the statistical backbone.</a:t>
            </a:r>
          </a:p>
        </p:txBody>
      </p:sp>
      <p:sp>
        <p:nvSpPr>
          <p:cNvPr id="32" name="Layer32Bg"/>
          <p:cNvSpPr>
            <a:spLocks noGrp="1"/>
          </p:cNvSpPr>
          <p:nvPr/>
        </p:nvSpPr>
        <p:spPr>
          <a:xfrm>
            <a:off x="609600" y="38608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ayer32Bar"/>
          <p:cNvSpPr>
            <a:spLocks noGrp="1"/>
          </p:cNvSpPr>
          <p:nvPr/>
        </p:nvSpPr>
        <p:spPr>
          <a:xfrm>
            <a:off x="609600" y="3860800"/>
            <a:ext cx="76200" cy="762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Layer32Num"/>
          <p:cNvSpPr txBox="1"/>
          <p:nvPr/>
        </p:nvSpPr>
        <p:spPr>
          <a:xfrm>
            <a:off x="838200" y="4013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6366F1"/>
                </a:solidFill>
                <a:latin typeface="Montserrat"/>
              </a:rPr>
              <a:t>03</a:t>
            </a:r>
          </a:p>
        </p:txBody>
      </p:sp>
      <p:sp>
        <p:nvSpPr>
          <p:cNvPr id="35" name="Layer32Title"/>
          <p:cNvSpPr txBox="1"/>
          <p:nvPr/>
        </p:nvSpPr>
        <p:spPr>
          <a:xfrm>
            <a:off x="1752600" y="4013200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Personalization Layer</a:t>
            </a:r>
          </a:p>
        </p:txBody>
      </p:sp>
      <p:sp>
        <p:nvSpPr>
          <p:cNvPr id="36" name="Layer32Body"/>
          <p:cNvSpPr txBox="1"/>
          <p:nvPr/>
        </p:nvSpPr>
        <p:spPr>
          <a:xfrm>
            <a:off x="4800600" y="4013200"/>
            <a:ext cx="655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9CA3AF"/>
                </a:solidFill>
                <a:latin typeface="Inter"/>
              </a:rPr>
              <a:t>Your holdings, trade history, and behavior patterns — kept local. The same event, reframed for your portfolio.</a:t>
            </a:r>
          </a:p>
        </p:txBody>
      </p:sp>
      <p:sp>
        <p:nvSpPr>
          <p:cNvPr id="38" name="Layer38Bg"/>
          <p:cNvSpPr>
            <a:spLocks noGrp="1"/>
          </p:cNvSpPr>
          <p:nvPr/>
        </p:nvSpPr>
        <p:spPr>
          <a:xfrm>
            <a:off x="609600" y="47371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141830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ayer38Bar"/>
          <p:cNvSpPr>
            <a:spLocks noGrp="1"/>
          </p:cNvSpPr>
          <p:nvPr/>
        </p:nvSpPr>
        <p:spPr>
          <a:xfrm>
            <a:off x="609600" y="4737100"/>
            <a:ext cx="76200" cy="762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Layer38Num"/>
          <p:cNvSpPr txBox="1"/>
          <p:nvPr/>
        </p:nvSpPr>
        <p:spPr>
          <a:xfrm>
            <a:off x="838200" y="48895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22C55E"/>
                </a:solidFill>
                <a:latin typeface="Montserrat"/>
              </a:rPr>
              <a:t>04</a:t>
            </a:r>
          </a:p>
        </p:txBody>
      </p:sp>
      <p:sp>
        <p:nvSpPr>
          <p:cNvPr id="41" name="Layer38Title"/>
          <p:cNvSpPr txBox="1"/>
          <p:nvPr/>
        </p:nvSpPr>
        <p:spPr>
          <a:xfrm>
            <a:off x="1752600" y="4889500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Delivery Layer</a:t>
            </a:r>
          </a:p>
        </p:txBody>
      </p:sp>
      <p:sp>
        <p:nvSpPr>
          <p:cNvPr id="42" name="Layer38Body"/>
          <p:cNvSpPr txBox="1"/>
          <p:nvPr/>
        </p:nvSpPr>
        <p:spPr>
          <a:xfrm>
            <a:off x="4800600" y="4889500"/>
            <a:ext cx="655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dirty="0">
                <a:solidFill>
                  <a:srgbClr val="9CA3AF"/>
                </a:solidFill>
                <a:latin typeface="Inter"/>
              </a:rPr>
              <a:t>Why Cards, loss lessons, event alerts — in English, Hindi, Telugu, Tamil, Bengali. App, push, WhatsApp.</a:t>
            </a:r>
          </a:p>
        </p:txBody>
      </p:sp>
      <p:sp>
        <p:nvSpPr>
          <p:cNvPr id="90" name="Takeaway"/>
          <p:cNvSpPr txBox="1"/>
          <p:nvPr/>
        </p:nvSpPr>
        <p:spPr>
          <a:xfrm>
            <a:off x="609600" y="5943600"/>
            <a:ext cx="10972800" cy="406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9CA3AF"/>
                </a:solidFill>
                <a:latin typeface="Inter"/>
              </a:rPr>
              <a:t>Stats </a:t>
            </a:r>
            <a:r>
              <a:rPr lang="en-US" sz="1600" b="1" dirty="0">
                <a:solidFill>
                  <a:srgbClr val="00E5CC"/>
                </a:solidFill>
                <a:latin typeface="Inter"/>
              </a:rPr>
              <a:t>explain</a:t>
            </a:r>
            <a:r>
              <a:rPr lang="en-US" sz="1600" dirty="0">
                <a:solidFill>
                  <a:srgbClr val="9CA3AF"/>
                </a:solidFill>
                <a:latin typeface="Inter"/>
              </a:rPr>
              <a:t>. AI </a:t>
            </a:r>
            <a:r>
              <a:rPr lang="en-US" sz="1600" b="1" dirty="0">
                <a:solidFill>
                  <a:srgbClr val="FFB020"/>
                </a:solidFill>
                <a:latin typeface="Inter"/>
              </a:rPr>
              <a:t>translates</a:t>
            </a:r>
            <a:r>
              <a:rPr lang="en-US" sz="1600" dirty="0">
                <a:solidFill>
                  <a:srgbClr val="9CA3AF"/>
                </a:solidFill>
                <a:latin typeface="Inter"/>
              </a:rPr>
              <a:t>. Your portfolio </a:t>
            </a:r>
            <a:r>
              <a:rPr lang="en-US" sz="1600" b="1" dirty="0">
                <a:solidFill>
                  <a:srgbClr val="22C55E"/>
                </a:solidFill>
                <a:latin typeface="Inter"/>
              </a:rPr>
              <a:t>grounds</a:t>
            </a:r>
            <a:r>
              <a:rPr lang="en-US" sz="1600" dirty="0">
                <a:solidFill>
                  <a:srgbClr val="9CA3AF"/>
                </a:solidFill>
                <a:latin typeface="Inter"/>
              </a:rPr>
              <a:t> it.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How It Works</a:t>
            </a:r>
          </a:p>
        </p:txBody>
      </p:sp>
    </p:spTree>
    <p:extLst>
      <p:ext uri="{BB962C8B-B14F-4D97-AF65-F5344CB8AC3E}">
        <p14:creationId xmlns:p14="http://schemas.microsoft.com/office/powerpoint/2010/main" val="397052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ll"/>
          <p:cNvSpPr txBox="1"/>
          <p:nvPr/>
        </p:nvSpPr>
        <p:spPr>
          <a:xfrm>
            <a:off x="609600" y="45720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052A22"/>
          </a:solidFill>
          <a:ln w="12700">
            <a:solidFill>
              <a:srgbClr val="00E5CC"/>
            </a:solidFill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00E5CC"/>
                </a:solidFill>
                <a:latin typeface="Montserrat"/>
              </a:rPr>
              <a:t>MARKET SIZE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838200"/>
            <a:ext cx="109728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  <a:latin typeface="Montserrat"/>
              </a:rPr>
              <a:t>A large and deeply underserved market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609600" y="1447800"/>
            <a:ext cx="109728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dirty="0">
                <a:solidFill>
                  <a:srgbClr val="9CA3AF"/>
                </a:solidFill>
                <a:latin typeface="Inter"/>
              </a:rPr>
              <a:t>India’s retail investing base has scaled 4x in five years. The learning layer has not scaled at all.</a:t>
            </a:r>
          </a:p>
        </p:txBody>
      </p:sp>
      <p:sp>
        <p:nvSpPr>
          <p:cNvPr id="20" name="TAM"/>
          <p:cNvSpPr/>
          <p:nvPr/>
        </p:nvSpPr>
        <p:spPr>
          <a:xfrm>
            <a:off x="838200" y="2057400"/>
            <a:ext cx="4114800" cy="4114800"/>
          </a:xfrm>
          <a:prstGeom prst="ellipse">
            <a:avLst/>
          </a:prstGeom>
          <a:solidFill>
            <a:srgbClr val="141830"/>
          </a:solidFill>
          <a:ln w="19050">
            <a:solidFill>
              <a:srgbClr val="FFB02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AM"/>
          <p:cNvSpPr/>
          <p:nvPr/>
        </p:nvSpPr>
        <p:spPr>
          <a:xfrm>
            <a:off x="1485900" y="2705100"/>
            <a:ext cx="2819400" cy="2819400"/>
          </a:xfrm>
          <a:prstGeom prst="ellipse">
            <a:avLst/>
          </a:prstGeom>
          <a:solidFill>
            <a:srgbClr val="1A2240"/>
          </a:solidFill>
          <a:ln w="19050">
            <a:solidFill>
              <a:srgbClr val="00E5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SOM"/>
          <p:cNvSpPr/>
          <p:nvPr/>
        </p:nvSpPr>
        <p:spPr>
          <a:xfrm>
            <a:off x="2133600" y="3352800"/>
            <a:ext cx="1524000" cy="1524000"/>
          </a:xfrm>
          <a:prstGeom prst="ellipse">
            <a:avLst/>
          </a:prstGeom>
          <a:solidFill>
            <a:srgbClr val="064E32"/>
          </a:solidFill>
          <a:ln w="19050">
            <a:solidFill>
              <a:srgbClr val="22C55E"/>
            </a:solidFill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22C55E"/>
                </a:solidFill>
                <a:latin typeface="Montserrat"/>
              </a:rPr>
              <a:t>SOM</a:t>
            </a:r>
          </a:p>
          <a:p>
            <a:pPr algn="ctr"/>
            <a:r>
              <a:rPr lang="en-US" sz="1100" dirty="0">
                <a:solidFill>
                  <a:srgbClr val="E5E7EB"/>
                </a:solidFill>
                <a:latin typeface="Inter"/>
              </a:rPr>
              <a:t>2–5M users</a:t>
            </a:r>
          </a:p>
        </p:txBody>
      </p:sp>
      <p:sp>
        <p:nvSpPr>
          <p:cNvPr id="23" name="SAMLabel"/>
          <p:cNvSpPr txBox="1"/>
          <p:nvPr/>
        </p:nvSpPr>
        <p:spPr>
          <a:xfrm>
            <a:off x="1562100" y="2819400"/>
            <a:ext cx="2667000" cy="4572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0E5CC"/>
                </a:solidFill>
                <a:latin typeface="Montserrat"/>
              </a:rPr>
              <a:t>SAM  ·  40–60M</a:t>
            </a:r>
          </a:p>
        </p:txBody>
      </p:sp>
      <p:sp>
        <p:nvSpPr>
          <p:cNvPr id="24" name="TAMLabel"/>
          <p:cNvSpPr txBox="1"/>
          <p:nvPr/>
        </p:nvSpPr>
        <p:spPr>
          <a:xfrm>
            <a:off x="914400" y="2209800"/>
            <a:ext cx="3962400" cy="4572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B020"/>
                </a:solidFill>
                <a:latin typeface="Montserrat"/>
              </a:rPr>
              <a:t>TAM  ·  194M demat</a:t>
            </a:r>
          </a:p>
        </p:txBody>
      </p:sp>
      <p:sp>
        <p:nvSpPr>
          <p:cNvPr id="30" name="Dot30"/>
          <p:cNvSpPr/>
          <p:nvPr/>
        </p:nvSpPr>
        <p:spPr>
          <a:xfrm>
            <a:off x="5486400" y="2133600"/>
            <a:ext cx="228600" cy="22860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Lbl31"/>
          <p:cNvSpPr txBox="1"/>
          <p:nvPr/>
        </p:nvSpPr>
        <p:spPr>
          <a:xfrm>
            <a:off x="5867400" y="2057400"/>
            <a:ext cx="5715000" cy="1219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 dirty="0">
                <a:solidFill>
                  <a:srgbClr val="FFB020"/>
                </a:solidFill>
                <a:latin typeface="Montserrat"/>
              </a:rPr>
              <a:t>TAM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9CA3AF"/>
                </a:solidFill>
                <a:latin typeface="Inter"/>
              </a:rPr>
              <a:t>India’s 194M demat accounts and broader investing universe — every retail participant who holds or trades securities.</a:t>
            </a:r>
          </a:p>
        </p:txBody>
      </p:sp>
      <p:sp>
        <p:nvSpPr>
          <p:cNvPr id="32" name="Dot32"/>
          <p:cNvSpPr/>
          <p:nvPr/>
        </p:nvSpPr>
        <p:spPr>
          <a:xfrm>
            <a:off x="5486400" y="3505200"/>
            <a:ext cx="228600" cy="228600"/>
          </a:xfrm>
          <a:prstGeom prst="ellipse">
            <a:avLst/>
          </a:prstGeom>
          <a:solidFill>
            <a:srgbClr val="00E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Lbl33"/>
          <p:cNvSpPr txBox="1"/>
          <p:nvPr/>
        </p:nvSpPr>
        <p:spPr>
          <a:xfrm>
            <a:off x="5867400" y="3429000"/>
            <a:ext cx="5715000" cy="1219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 dirty="0">
                <a:solidFill>
                  <a:srgbClr val="00E5CC"/>
                </a:solidFill>
                <a:latin typeface="Montserrat"/>
              </a:rPr>
              <a:t>SAM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9CA3AF"/>
                </a:solidFill>
                <a:latin typeface="Inter"/>
              </a:rPr>
              <a:t>40–60M active digital-first investors with smartphones, broker accounts, and willingness to pay for better insights.</a:t>
            </a:r>
          </a:p>
        </p:txBody>
      </p:sp>
      <p:sp>
        <p:nvSpPr>
          <p:cNvPr id="34" name="Dot34"/>
          <p:cNvSpPr/>
          <p:nvPr/>
        </p:nvSpPr>
        <p:spPr>
          <a:xfrm>
            <a:off x="5486400" y="487680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Lbl35"/>
          <p:cNvSpPr txBox="1"/>
          <p:nvPr/>
        </p:nvSpPr>
        <p:spPr>
          <a:xfrm>
            <a:off x="5867400" y="4800600"/>
            <a:ext cx="5715000" cy="1219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 dirty="0">
                <a:solidFill>
                  <a:srgbClr val="22C55E"/>
                </a:solidFill>
                <a:latin typeface="Montserrat"/>
              </a:rPr>
              <a:t>SOM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9CA3AF"/>
                </a:solidFill>
                <a:latin typeface="Inter"/>
              </a:rPr>
              <a:t>2–5M paying users in 3 years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 dirty="0">
                <a:solidFill>
                  <a:srgbClr val="6B7280"/>
                </a:solidFill>
                <a:latin typeface="Inter"/>
              </a:rPr>
              <a:t>Move  /  Market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CBC16-7FF6-6B20-0F8B-D9AE43E43A96}"/>
              </a:ext>
            </a:extLst>
          </p:cNvPr>
          <p:cNvSpPr txBox="1"/>
          <p:nvPr/>
        </p:nvSpPr>
        <p:spPr>
          <a:xfrm>
            <a:off x="8952322" y="6019800"/>
            <a:ext cx="3087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800" dirty="0"/>
          </a:p>
          <a:p>
            <a:r>
              <a:rPr lang="en-GB" sz="800" dirty="0"/>
              <a:t>Sources-</a:t>
            </a:r>
          </a:p>
          <a:p>
            <a:r>
              <a:rPr lang="en-GB" sz="800" dirty="0"/>
              <a:t> Business Standard — "Retail participation in markets increase; demat accounts surge to 194 million" (July 2025)- *URL:* business-standard.com</a:t>
            </a:r>
          </a:p>
        </p:txBody>
      </p:sp>
    </p:spTree>
    <p:extLst>
      <p:ext uri="{BB962C8B-B14F-4D97-AF65-F5344CB8AC3E}">
        <p14:creationId xmlns:p14="http://schemas.microsoft.com/office/powerpoint/2010/main" val="336547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>
            <a:extLst>
              <a:ext uri="{FF2B5EF4-FFF2-40B4-BE49-F238E27FC236}">
                <a16:creationId xmlns:a16="http://schemas.microsoft.com/office/drawing/2014/main" id="{358141BB-8B97-41E2-A822-48AC2318607E}"/>
              </a:ext>
            </a:extLst>
          </p:cNvPr>
          <p:cNvSpPr txBox="1"/>
          <p:nvPr/>
        </p:nvSpPr>
        <p:spPr>
          <a:xfrm>
            <a:off x="609600" y="457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00E5CC"/>
                </a:solidFill>
                <a:latin typeface="Montserrat"/>
              </a:rPr>
              <a:t>BUSINESS MODEL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668D5DF-F64B-4FA0-A65F-04F8CEE4F0D6}"/>
              </a:ext>
            </a:extLst>
          </p:cNvPr>
          <p:cNvSpPr txBox="1"/>
          <p:nvPr/>
        </p:nvSpPr>
        <p:spPr>
          <a:xfrm>
            <a:off x="609600" y="8382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Montserrat"/>
              </a:rPr>
              <a:t>Start with users. Expand into infrastructure.</a:t>
            </a:r>
            <a:endParaRPr lang="en-GB" sz="32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98B6AC3-8AD8-429F-A9BC-3461C05394DF}"/>
              </a:ext>
            </a:extLst>
          </p:cNvPr>
          <p:cNvSpPr txBox="1"/>
          <p:nvPr/>
        </p:nvSpPr>
        <p:spPr>
          <a:xfrm>
            <a:off x="609600" y="14986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CA3AF"/>
                </a:solidFill>
                <a:latin typeface="Inter"/>
              </a:rPr>
              <a:t>Three revenue layers unlock over three years — each compounds the next.</a:t>
            </a:r>
            <a:endParaRPr lang="en-GB" sz="14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B995F-74FB-47E0-820F-9E1D1E858AAD}"/>
              </a:ext>
            </a:extLst>
          </p:cNvPr>
          <p:cNvSpPr/>
          <p:nvPr/>
        </p:nvSpPr>
        <p:spPr>
          <a:xfrm>
            <a:off x="914400" y="3022600"/>
            <a:ext cx="3403600" cy="2540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F6C15-F81C-4471-988C-CD95F814DA50}"/>
              </a:ext>
            </a:extLst>
          </p:cNvPr>
          <p:cNvSpPr/>
          <p:nvPr/>
        </p:nvSpPr>
        <p:spPr>
          <a:xfrm>
            <a:off x="914400" y="3022600"/>
            <a:ext cx="3403600" cy="508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A02E0-3610-46EE-8A3E-2E5D56DD74F9}"/>
              </a:ext>
            </a:extLst>
          </p:cNvPr>
          <p:cNvSpPr txBox="1"/>
          <p:nvPr/>
        </p:nvSpPr>
        <p:spPr>
          <a:xfrm>
            <a:off x="1168400" y="32512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00E5CC"/>
                </a:solidFill>
                <a:latin typeface="Montserrat"/>
              </a:rPr>
              <a:t>YEAR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1D30A-49C5-4CE9-91EF-5893A1E3CA14}"/>
              </a:ext>
            </a:extLst>
          </p:cNvPr>
          <p:cNvSpPr txBox="1"/>
          <p:nvPr/>
        </p:nvSpPr>
        <p:spPr>
          <a:xfrm>
            <a:off x="1168400" y="35560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  <a:latin typeface="Montserrat"/>
              </a:rPr>
              <a:t>Freemium consumer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9DE35-167A-47B5-99B0-88399E1B6D2D}"/>
              </a:ext>
            </a:extLst>
          </p:cNvPr>
          <p:cNvSpPr txBox="1"/>
          <p:nvPr/>
        </p:nvSpPr>
        <p:spPr>
          <a:xfrm>
            <a:off x="1168400" y="401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300" b="1" dirty="0">
                <a:solidFill>
                  <a:srgbClr val="00E5CC"/>
                </a:solidFill>
                <a:latin typeface="Inter"/>
              </a:rPr>
              <a:t>₹199 / month premium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7D0D5-EDCD-410A-BC45-3C7E0D667010}"/>
              </a:ext>
            </a:extLst>
          </p:cNvPr>
          <p:cNvSpPr txBox="1"/>
          <p:nvPr/>
        </p:nvSpPr>
        <p:spPr>
          <a:xfrm>
            <a:off x="1168400" y="4419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Free daily Why Card. Paid deep analytics, Loss Ledger, and multilingual explainers.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157E7B-AE62-4C88-8FE3-CEE3D1BF0820}"/>
              </a:ext>
            </a:extLst>
          </p:cNvPr>
          <p:cNvSpPr/>
          <p:nvPr/>
        </p:nvSpPr>
        <p:spPr>
          <a:xfrm>
            <a:off x="4394200" y="3022600"/>
            <a:ext cx="3403600" cy="2540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C9B9C-BCAA-4961-BA29-AF2FA43A4508}"/>
              </a:ext>
            </a:extLst>
          </p:cNvPr>
          <p:cNvSpPr/>
          <p:nvPr/>
        </p:nvSpPr>
        <p:spPr>
          <a:xfrm>
            <a:off x="4394200" y="3022600"/>
            <a:ext cx="3403600" cy="508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CFF85-C0B7-4813-BEA4-F6365FF62BDE}"/>
              </a:ext>
            </a:extLst>
          </p:cNvPr>
          <p:cNvSpPr txBox="1"/>
          <p:nvPr/>
        </p:nvSpPr>
        <p:spPr>
          <a:xfrm>
            <a:off x="4648200" y="32512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FFB020"/>
                </a:solidFill>
                <a:latin typeface="Montserrat"/>
              </a:rPr>
              <a:t>YEAR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487A90-588E-48F5-B76D-6FBD49B6F8E0}"/>
              </a:ext>
            </a:extLst>
          </p:cNvPr>
          <p:cNvSpPr txBox="1"/>
          <p:nvPr/>
        </p:nvSpPr>
        <p:spPr>
          <a:xfrm>
            <a:off x="4648200" y="34417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 dirty="0">
                <a:solidFill>
                  <a:srgbClr val="FFFFFF"/>
                </a:solidFill>
                <a:latin typeface="Montserrat"/>
              </a:rPr>
              <a:t>B2B2C broker partnerships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4046AF-5920-409D-A337-F86FE59A8CB2}"/>
              </a:ext>
            </a:extLst>
          </p:cNvPr>
          <p:cNvSpPr txBox="1"/>
          <p:nvPr/>
        </p:nvSpPr>
        <p:spPr>
          <a:xfrm>
            <a:off x="4648200" y="401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300" b="1" dirty="0">
                <a:solidFill>
                  <a:srgbClr val="00E5CC"/>
                </a:solidFill>
                <a:latin typeface="Inter"/>
              </a:rPr>
              <a:t>₹50L–5Cr / broker / yr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CE5DA-7BB3-4D30-85D9-ADBB8CEBFD53}"/>
              </a:ext>
            </a:extLst>
          </p:cNvPr>
          <p:cNvSpPr txBox="1"/>
          <p:nvPr/>
        </p:nvSpPr>
        <p:spPr>
          <a:xfrm>
            <a:off x="4648200" y="4419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Zerodha, Groww, Angel One, Upstox integrations. Per-user licensing to the brokers.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577DB0-37EA-406D-9FD2-4C3C6F7E27B9}"/>
              </a:ext>
            </a:extLst>
          </p:cNvPr>
          <p:cNvSpPr/>
          <p:nvPr/>
        </p:nvSpPr>
        <p:spPr>
          <a:xfrm>
            <a:off x="7874000" y="3022600"/>
            <a:ext cx="3403600" cy="2540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A5FE12-FA41-4D3F-8F6F-72F3DCC39F51}"/>
              </a:ext>
            </a:extLst>
          </p:cNvPr>
          <p:cNvSpPr/>
          <p:nvPr/>
        </p:nvSpPr>
        <p:spPr>
          <a:xfrm>
            <a:off x="7874000" y="3022600"/>
            <a:ext cx="3403600" cy="50800"/>
          </a:xfrm>
          <a:prstGeom prst="rect">
            <a:avLst/>
          </a:prstGeom>
          <a:solidFill>
            <a:srgbClr val="818C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E6599E-C126-4139-823F-17F33B40742B}"/>
              </a:ext>
            </a:extLst>
          </p:cNvPr>
          <p:cNvSpPr txBox="1"/>
          <p:nvPr/>
        </p:nvSpPr>
        <p:spPr>
          <a:xfrm>
            <a:off x="8128000" y="32512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818CF8"/>
                </a:solidFill>
                <a:latin typeface="Montserrat"/>
              </a:rPr>
              <a:t>YEAR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2BB3A-9A1E-4281-9C0F-9DE32DD76E1D}"/>
              </a:ext>
            </a:extLst>
          </p:cNvPr>
          <p:cNvSpPr txBox="1"/>
          <p:nvPr/>
        </p:nvSpPr>
        <p:spPr>
          <a:xfrm>
            <a:off x="8128000" y="35560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  <a:latin typeface="Montserrat"/>
              </a:rPr>
              <a:t>Institutional &amp; literacy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272FA1-B388-49C5-AE35-501AC39D80B6}"/>
              </a:ext>
            </a:extLst>
          </p:cNvPr>
          <p:cNvSpPr txBox="1"/>
          <p:nvPr/>
        </p:nvSpPr>
        <p:spPr>
          <a:xfrm>
            <a:off x="8128000" y="4419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9CA3AF"/>
                </a:solidFill>
                <a:latin typeface="Inter"/>
              </a:rPr>
              <a:t>Exchanges, CSR mandates, SEBI-aligned literacy programs, ecosystem partners.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72D57514-7528-4866-89BE-EA1E9424BF3D}"/>
              </a:ext>
            </a:extLst>
          </p:cNvPr>
          <p:cNvSpPr txBox="1"/>
          <p:nvPr/>
        </p:nvSpPr>
        <p:spPr>
          <a:xfrm>
            <a:off x="609600" y="56388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E5E7EB"/>
                </a:solidFill>
                <a:latin typeface="Inter"/>
              </a:rPr>
              <a:t>Consumer trust becomes </a:t>
            </a:r>
            <a:r>
              <a:rPr lang="en-US" sz="2000" b="1" dirty="0">
                <a:solidFill>
                  <a:srgbClr val="00E5CC"/>
                </a:solidFill>
                <a:latin typeface="Inter"/>
              </a:rPr>
              <a:t>infrastructure leverage</a:t>
            </a:r>
            <a:r>
              <a:rPr lang="en-US" sz="2000" dirty="0">
                <a:solidFill>
                  <a:srgbClr val="E5E7EB"/>
                </a:solidFill>
                <a:latin typeface="Inter"/>
              </a:rPr>
              <a:t>.</a:t>
            </a:r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EE8C9B04-F7CA-4767-A248-D6F16C608714}"/>
              </a:ext>
            </a:extLst>
          </p:cNvPr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Inter"/>
              </a:rPr>
              <a:t>Move  /  Business Model</a:t>
            </a:r>
            <a:endParaRPr lang="en-GB" sz="900" dirty="0">
              <a:solidFill>
                <a:srgbClr val="6B728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2951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6061DF-1081-4610-9F00-E773E5D28F0D}"/>
              </a:ext>
            </a:extLst>
          </p:cNvPr>
          <p:cNvSpPr txBox="1"/>
          <p:nvPr/>
        </p:nvSpPr>
        <p:spPr>
          <a:xfrm>
            <a:off x="609600" y="4572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00E5CC"/>
                </a:solidFill>
                <a:latin typeface="Montserrat"/>
              </a:rPr>
              <a:t>COMPETITION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A98F4-2E3A-4046-8437-46319FA647C7}"/>
              </a:ext>
            </a:extLst>
          </p:cNvPr>
          <p:cNvSpPr txBox="1"/>
          <p:nvPr/>
        </p:nvSpPr>
        <p:spPr>
          <a:xfrm>
            <a:off x="609600" y="8382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Montserrat"/>
              </a:rPr>
              <a:t>Competitive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0AE6-3344-4229-9401-46E14767C5FD}"/>
              </a:ext>
            </a:extLst>
          </p:cNvPr>
          <p:cNvSpPr txBox="1"/>
          <p:nvPr/>
        </p:nvSpPr>
        <p:spPr>
          <a:xfrm>
            <a:off x="609600" y="14986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CA3AF"/>
                </a:solidFill>
                <a:latin typeface="Inter"/>
              </a:rPr>
              <a:t>Others partially touch the problem. Move is the only product built end-to-end for it.</a:t>
            </a:r>
            <a:endParaRPr lang="en-GB" sz="14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D87DD-E935-4D07-88BE-732530056DEB}"/>
              </a:ext>
            </a:extLst>
          </p:cNvPr>
          <p:cNvSpPr/>
          <p:nvPr/>
        </p:nvSpPr>
        <p:spPr>
          <a:xfrm>
            <a:off x="685800" y="2133600"/>
            <a:ext cx="10795000" cy="457200"/>
          </a:xfrm>
          <a:prstGeom prst="rect">
            <a:avLst/>
          </a:prstGeom>
          <a:solidFill>
            <a:srgbClr val="15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15BF1-FE7D-434E-902C-D6BE2C91CD67}"/>
              </a:ext>
            </a:extLst>
          </p:cNvPr>
          <p:cNvSpPr txBox="1"/>
          <p:nvPr/>
        </p:nvSpPr>
        <p:spPr>
          <a:xfrm>
            <a:off x="2971800" y="21336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100" b="1">
                <a:solidFill>
                  <a:srgbClr val="E5E7EB"/>
                </a:solidFill>
                <a:latin typeface="Montserrat"/>
              </a:rPr>
              <a:t>Explains WHY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2733D-5C8F-48B6-B42B-A4F1624220D5}"/>
              </a:ext>
            </a:extLst>
          </p:cNvPr>
          <p:cNvSpPr txBox="1"/>
          <p:nvPr/>
        </p:nvSpPr>
        <p:spPr>
          <a:xfrm>
            <a:off x="4673600" y="21336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100" b="1">
                <a:solidFill>
                  <a:srgbClr val="E5E7EB"/>
                </a:solidFill>
                <a:latin typeface="Montserrat"/>
              </a:rPr>
              <a:t>Portfolio-aware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61721-5E2E-439A-86C6-F3770B9A4A1F}"/>
              </a:ext>
            </a:extLst>
          </p:cNvPr>
          <p:cNvSpPr txBox="1"/>
          <p:nvPr/>
        </p:nvSpPr>
        <p:spPr>
          <a:xfrm>
            <a:off x="6375400" y="21336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100" b="1">
                <a:solidFill>
                  <a:srgbClr val="E5E7EB"/>
                </a:solidFill>
                <a:latin typeface="Montserrat"/>
              </a:rPr>
              <a:t>India-specific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4C2BC-233B-40B6-89E0-5276E8A376D6}"/>
              </a:ext>
            </a:extLst>
          </p:cNvPr>
          <p:cNvSpPr txBox="1"/>
          <p:nvPr/>
        </p:nvSpPr>
        <p:spPr>
          <a:xfrm>
            <a:off x="8077199" y="2133600"/>
            <a:ext cx="2179163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E5E7EB"/>
                </a:solidFill>
                <a:latin typeface="Montserrat"/>
              </a:rPr>
              <a:t>M</a:t>
            </a:r>
            <a:r>
              <a:rPr lang="en-GB" sz="1100" b="1" dirty="0" err="1">
                <a:solidFill>
                  <a:srgbClr val="E5E7EB"/>
                </a:solidFill>
                <a:latin typeface="Montserrat"/>
              </a:rPr>
              <a:t>ulti</a:t>
            </a:r>
            <a:r>
              <a:rPr lang="en-GB" sz="1100" b="1" dirty="0">
                <a:solidFill>
                  <a:srgbClr val="E5E7EB"/>
                </a:solidFill>
                <a:latin typeface="Montserrat"/>
              </a:rPr>
              <a:t>-lingual 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BD470-6784-4713-BD22-31795457CEE9}"/>
              </a:ext>
            </a:extLst>
          </p:cNvPr>
          <p:cNvSpPr txBox="1"/>
          <p:nvPr/>
        </p:nvSpPr>
        <p:spPr>
          <a:xfrm>
            <a:off x="10160000" y="21463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100" b="1" dirty="0">
                <a:solidFill>
                  <a:srgbClr val="E5E7EB"/>
                </a:solidFill>
                <a:latin typeface="Montserrat"/>
              </a:rPr>
              <a:t>On-device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1FC63-10B9-42E8-A9E6-88669324ACDD}"/>
              </a:ext>
            </a:extLst>
          </p:cNvPr>
          <p:cNvSpPr/>
          <p:nvPr/>
        </p:nvSpPr>
        <p:spPr>
          <a:xfrm>
            <a:off x="685800" y="2590800"/>
            <a:ext cx="10795000" cy="508000"/>
          </a:xfrm>
          <a:prstGeom prst="rect">
            <a:avLst/>
          </a:prstGeom>
          <a:solidFill>
            <a:srgbClr val="1016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1E0C0-33A6-42B4-87F2-1575CBA0748F}"/>
              </a:ext>
            </a:extLst>
          </p:cNvPr>
          <p:cNvSpPr txBox="1"/>
          <p:nvPr/>
        </p:nvSpPr>
        <p:spPr>
          <a:xfrm>
            <a:off x="863600" y="2590800"/>
            <a:ext cx="2108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>
                <a:solidFill>
                  <a:srgbClr val="E5E7EB"/>
                </a:solidFill>
                <a:latin typeface="Montserrat"/>
              </a:rPr>
              <a:t>News apps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DA3FD9-8C61-4FB6-BCA3-C005602B88B4}"/>
              </a:ext>
            </a:extLst>
          </p:cNvPr>
          <p:cNvSpPr/>
          <p:nvPr/>
        </p:nvSpPr>
        <p:spPr>
          <a:xfrm>
            <a:off x="3733800" y="2755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9F04C8-29EC-441F-B7B1-3C71C6945B0B}"/>
              </a:ext>
            </a:extLst>
          </p:cNvPr>
          <p:cNvSpPr txBox="1"/>
          <p:nvPr/>
        </p:nvSpPr>
        <p:spPr>
          <a:xfrm>
            <a:off x="5346700" y="258098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dirty="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826DCF-D65E-46BB-9595-2493673ECA0F}"/>
              </a:ext>
            </a:extLst>
          </p:cNvPr>
          <p:cNvSpPr/>
          <p:nvPr/>
        </p:nvSpPr>
        <p:spPr>
          <a:xfrm>
            <a:off x="7137400" y="2755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80116D-20E7-4BAB-8C6F-9AB9635DC76C}"/>
              </a:ext>
            </a:extLst>
          </p:cNvPr>
          <p:cNvSpPr/>
          <p:nvPr/>
        </p:nvSpPr>
        <p:spPr>
          <a:xfrm>
            <a:off x="8839200" y="2755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421108-7C79-467D-BADD-E536DC77B60F}"/>
              </a:ext>
            </a:extLst>
          </p:cNvPr>
          <p:cNvSpPr/>
          <p:nvPr/>
        </p:nvSpPr>
        <p:spPr>
          <a:xfrm>
            <a:off x="10541000" y="2755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E72CD1-300F-4F3F-8788-A5AE66D9E17C}"/>
              </a:ext>
            </a:extLst>
          </p:cNvPr>
          <p:cNvSpPr/>
          <p:nvPr/>
        </p:nvSpPr>
        <p:spPr>
          <a:xfrm>
            <a:off x="685800" y="3098800"/>
            <a:ext cx="10795000" cy="508000"/>
          </a:xfrm>
          <a:prstGeom prst="rect">
            <a:avLst/>
          </a:prstGeom>
          <a:solidFill>
            <a:srgbClr val="0B1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8DB8C8-D7FE-46B5-A6EB-E2EEA849C689}"/>
              </a:ext>
            </a:extLst>
          </p:cNvPr>
          <p:cNvSpPr txBox="1"/>
          <p:nvPr/>
        </p:nvSpPr>
        <p:spPr>
          <a:xfrm>
            <a:off x="863600" y="3098800"/>
            <a:ext cx="2108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>
                <a:solidFill>
                  <a:srgbClr val="E5E7EB"/>
                </a:solidFill>
                <a:latin typeface="Montserrat"/>
              </a:rPr>
              <a:t>Broker apps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54E6AA-1015-4B1A-A593-0B4CE8809FD5}"/>
              </a:ext>
            </a:extLst>
          </p:cNvPr>
          <p:cNvSpPr txBox="1"/>
          <p:nvPr/>
        </p:nvSpPr>
        <p:spPr>
          <a:xfrm>
            <a:off x="3621727" y="3098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8DDAEC-7B9B-4B31-BBFB-A59E91ECD3C2}"/>
              </a:ext>
            </a:extLst>
          </p:cNvPr>
          <p:cNvSpPr/>
          <p:nvPr/>
        </p:nvSpPr>
        <p:spPr>
          <a:xfrm>
            <a:off x="5435600" y="3263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3C6EBA-82D0-4F24-9C5B-A513D1F977F6}"/>
              </a:ext>
            </a:extLst>
          </p:cNvPr>
          <p:cNvSpPr/>
          <p:nvPr/>
        </p:nvSpPr>
        <p:spPr>
          <a:xfrm>
            <a:off x="7137400" y="3263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FC8868-AEC8-4E67-8570-AF1107F1BE4C}"/>
              </a:ext>
            </a:extLst>
          </p:cNvPr>
          <p:cNvSpPr txBox="1"/>
          <p:nvPr/>
        </p:nvSpPr>
        <p:spPr>
          <a:xfrm>
            <a:off x="8750300" y="3098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B2FC68-B4AF-4822-9C4A-FB817B55628D}"/>
              </a:ext>
            </a:extLst>
          </p:cNvPr>
          <p:cNvSpPr/>
          <p:nvPr/>
        </p:nvSpPr>
        <p:spPr>
          <a:xfrm>
            <a:off x="10541000" y="3263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EC1C00-B9F1-4B15-8909-64771CFCE904}"/>
              </a:ext>
            </a:extLst>
          </p:cNvPr>
          <p:cNvSpPr/>
          <p:nvPr/>
        </p:nvSpPr>
        <p:spPr>
          <a:xfrm>
            <a:off x="685800" y="3606800"/>
            <a:ext cx="10795000" cy="508000"/>
          </a:xfrm>
          <a:prstGeom prst="rect">
            <a:avLst/>
          </a:prstGeom>
          <a:solidFill>
            <a:srgbClr val="1016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7E038C-2AF1-41EA-8C0C-041F387298B4}"/>
              </a:ext>
            </a:extLst>
          </p:cNvPr>
          <p:cNvSpPr txBox="1"/>
          <p:nvPr/>
        </p:nvSpPr>
        <p:spPr>
          <a:xfrm>
            <a:off x="863600" y="3606800"/>
            <a:ext cx="2108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>
                <a:solidFill>
                  <a:srgbClr val="E5E7EB"/>
                </a:solidFill>
                <a:latin typeface="Montserrat"/>
              </a:rPr>
              <a:t>Generic AI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5D9DC5-2A61-4D9C-9E06-32CC941961EF}"/>
              </a:ext>
            </a:extLst>
          </p:cNvPr>
          <p:cNvSpPr/>
          <p:nvPr/>
        </p:nvSpPr>
        <p:spPr>
          <a:xfrm>
            <a:off x="3733800" y="3771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E468A-3F2D-4F61-B605-A6ADE6668930}"/>
              </a:ext>
            </a:extLst>
          </p:cNvPr>
          <p:cNvSpPr txBox="1"/>
          <p:nvPr/>
        </p:nvSpPr>
        <p:spPr>
          <a:xfrm>
            <a:off x="5331251" y="3606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2A52ED-777E-48DD-8B8D-0370193C3F87}"/>
              </a:ext>
            </a:extLst>
          </p:cNvPr>
          <p:cNvSpPr txBox="1"/>
          <p:nvPr/>
        </p:nvSpPr>
        <p:spPr>
          <a:xfrm>
            <a:off x="7086600" y="36195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dirty="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09AAC5-3D39-4117-B13C-362CA2649DA9}"/>
              </a:ext>
            </a:extLst>
          </p:cNvPr>
          <p:cNvSpPr/>
          <p:nvPr/>
        </p:nvSpPr>
        <p:spPr>
          <a:xfrm>
            <a:off x="8839200" y="3771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71DB42-B711-4E1D-B374-40DAD275A288}"/>
              </a:ext>
            </a:extLst>
          </p:cNvPr>
          <p:cNvSpPr/>
          <p:nvPr/>
        </p:nvSpPr>
        <p:spPr>
          <a:xfrm>
            <a:off x="10541000" y="3771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8E4A51-54D6-4597-BB21-00BD4390723E}"/>
              </a:ext>
            </a:extLst>
          </p:cNvPr>
          <p:cNvSpPr/>
          <p:nvPr/>
        </p:nvSpPr>
        <p:spPr>
          <a:xfrm>
            <a:off x="685800" y="4114800"/>
            <a:ext cx="10795000" cy="508000"/>
          </a:xfrm>
          <a:prstGeom prst="rect">
            <a:avLst/>
          </a:prstGeom>
          <a:solidFill>
            <a:srgbClr val="0B1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FE5DDA-D206-4CE3-BB89-300F46EF1882}"/>
              </a:ext>
            </a:extLst>
          </p:cNvPr>
          <p:cNvSpPr txBox="1"/>
          <p:nvPr/>
        </p:nvSpPr>
        <p:spPr>
          <a:xfrm>
            <a:off x="863600" y="4114800"/>
            <a:ext cx="2108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>
                <a:solidFill>
                  <a:srgbClr val="E5E7EB"/>
                </a:solidFill>
                <a:latin typeface="Montserrat"/>
              </a:rPr>
              <a:t>Institutional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74DC77-0877-4CFD-974F-E9CD05C12516}"/>
              </a:ext>
            </a:extLst>
          </p:cNvPr>
          <p:cNvSpPr txBox="1"/>
          <p:nvPr/>
        </p:nvSpPr>
        <p:spPr>
          <a:xfrm>
            <a:off x="7083851" y="4114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dirty="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2FB22C-C6A0-47AF-93B1-74114E2AE535}"/>
              </a:ext>
            </a:extLst>
          </p:cNvPr>
          <p:cNvSpPr txBox="1"/>
          <p:nvPr/>
        </p:nvSpPr>
        <p:spPr>
          <a:xfrm>
            <a:off x="8788400" y="4114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5CCBA2-DC8A-4DD7-B2F9-2F7A9916E28A}"/>
              </a:ext>
            </a:extLst>
          </p:cNvPr>
          <p:cNvSpPr txBox="1"/>
          <p:nvPr/>
        </p:nvSpPr>
        <p:spPr>
          <a:xfrm>
            <a:off x="10490200" y="41021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dirty="0">
                <a:solidFill>
                  <a:srgbClr val="4B5563"/>
                </a:solidFill>
                <a:latin typeface="Inter"/>
              </a:rPr>
              <a:t>—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4813E6-193D-4642-802C-F560D7819E2D}"/>
              </a:ext>
            </a:extLst>
          </p:cNvPr>
          <p:cNvSpPr/>
          <p:nvPr/>
        </p:nvSpPr>
        <p:spPr>
          <a:xfrm>
            <a:off x="685800" y="4622800"/>
            <a:ext cx="10795000" cy="508000"/>
          </a:xfrm>
          <a:prstGeom prst="rect">
            <a:avLst/>
          </a:prstGeom>
          <a:solidFill>
            <a:srgbClr val="0D2E2A"/>
          </a:solidFill>
          <a:ln w="15875" cap="flat" cmpd="sng" algn="ctr">
            <a:solidFill>
              <a:srgbClr val="00E5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19D845-5653-4150-8E7A-122D9331E483}"/>
              </a:ext>
            </a:extLst>
          </p:cNvPr>
          <p:cNvSpPr txBox="1"/>
          <p:nvPr/>
        </p:nvSpPr>
        <p:spPr>
          <a:xfrm>
            <a:off x="863600" y="4622800"/>
            <a:ext cx="2108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0E5CC"/>
                </a:solidFill>
                <a:latin typeface="Montserrat"/>
              </a:rPr>
              <a:t>Move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363D972-649D-4F8B-A4E3-205D3ABC8FCD}"/>
              </a:ext>
            </a:extLst>
          </p:cNvPr>
          <p:cNvSpPr/>
          <p:nvPr/>
        </p:nvSpPr>
        <p:spPr>
          <a:xfrm>
            <a:off x="3683000" y="4737100"/>
            <a:ext cx="279400" cy="2794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D7A1E1-336D-46CB-8089-FA24B8BADB8B}"/>
              </a:ext>
            </a:extLst>
          </p:cNvPr>
          <p:cNvSpPr txBox="1"/>
          <p:nvPr/>
        </p:nvSpPr>
        <p:spPr>
          <a:xfrm>
            <a:off x="3683000" y="4737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B1020"/>
                </a:solidFill>
                <a:latin typeface="Inter"/>
              </a:rPr>
              <a:t>✓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6CCDE9-C549-46F7-B376-A905545150A3}"/>
              </a:ext>
            </a:extLst>
          </p:cNvPr>
          <p:cNvSpPr/>
          <p:nvPr/>
        </p:nvSpPr>
        <p:spPr>
          <a:xfrm>
            <a:off x="5384800" y="4737100"/>
            <a:ext cx="279400" cy="2794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ABD42D-ACA2-4240-84B0-6F443E64922C}"/>
              </a:ext>
            </a:extLst>
          </p:cNvPr>
          <p:cNvSpPr txBox="1"/>
          <p:nvPr/>
        </p:nvSpPr>
        <p:spPr>
          <a:xfrm>
            <a:off x="5384800" y="4737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B1020"/>
                </a:solidFill>
                <a:latin typeface="Inter"/>
              </a:rPr>
              <a:t>✓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191ADC6-62B9-4622-9603-167197D163DB}"/>
              </a:ext>
            </a:extLst>
          </p:cNvPr>
          <p:cNvSpPr/>
          <p:nvPr/>
        </p:nvSpPr>
        <p:spPr>
          <a:xfrm>
            <a:off x="7086600" y="4737100"/>
            <a:ext cx="279400" cy="2794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48111C-B9C9-47EE-8CF4-91F40B8A4A3F}"/>
              </a:ext>
            </a:extLst>
          </p:cNvPr>
          <p:cNvSpPr txBox="1"/>
          <p:nvPr/>
        </p:nvSpPr>
        <p:spPr>
          <a:xfrm>
            <a:off x="7086600" y="4737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B1020"/>
                </a:solidFill>
                <a:latin typeface="Inter"/>
              </a:rPr>
              <a:t>✓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147C54-4209-42F9-A280-F9B21EC9DAA7}"/>
              </a:ext>
            </a:extLst>
          </p:cNvPr>
          <p:cNvSpPr/>
          <p:nvPr/>
        </p:nvSpPr>
        <p:spPr>
          <a:xfrm>
            <a:off x="8788400" y="4737100"/>
            <a:ext cx="279400" cy="2794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6CD026-3F0F-4839-BC5F-F7A78CA24B54}"/>
              </a:ext>
            </a:extLst>
          </p:cNvPr>
          <p:cNvSpPr txBox="1"/>
          <p:nvPr/>
        </p:nvSpPr>
        <p:spPr>
          <a:xfrm>
            <a:off x="8788400" y="4737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B1020"/>
                </a:solidFill>
                <a:latin typeface="Inter"/>
              </a:rPr>
              <a:t>✓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656CEEC-06DF-45A1-8D32-6AA5979D63D9}"/>
              </a:ext>
            </a:extLst>
          </p:cNvPr>
          <p:cNvSpPr/>
          <p:nvPr/>
        </p:nvSpPr>
        <p:spPr>
          <a:xfrm>
            <a:off x="10490200" y="4737100"/>
            <a:ext cx="279400" cy="2794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1A2D50-55F1-404F-97D0-DCAB51FABEC9}"/>
              </a:ext>
            </a:extLst>
          </p:cNvPr>
          <p:cNvSpPr txBox="1"/>
          <p:nvPr/>
        </p:nvSpPr>
        <p:spPr>
          <a:xfrm>
            <a:off x="10490200" y="4737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 b="1">
                <a:solidFill>
                  <a:srgbClr val="0B1020"/>
                </a:solidFill>
                <a:latin typeface="Inter"/>
              </a:rPr>
              <a:t>✓</a:t>
            </a:r>
          </a:p>
        </p:txBody>
      </p:sp>
      <p:sp>
        <p:nvSpPr>
          <p:cNvPr id="52" name="Takeaway">
            <a:extLst>
              <a:ext uri="{FF2B5EF4-FFF2-40B4-BE49-F238E27FC236}">
                <a16:creationId xmlns:a16="http://schemas.microsoft.com/office/drawing/2014/main" id="{BFE14F4C-3F26-4669-AE0E-991E0711AFFD}"/>
              </a:ext>
            </a:extLst>
          </p:cNvPr>
          <p:cNvSpPr txBox="1"/>
          <p:nvPr/>
        </p:nvSpPr>
        <p:spPr>
          <a:xfrm>
            <a:off x="609600" y="5816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E5E7EB"/>
                </a:solidFill>
                <a:latin typeface="Inter"/>
              </a:rPr>
              <a:t>Move owns the one column that matters most: </a:t>
            </a:r>
            <a:r>
              <a:rPr lang="en-US" sz="2000" b="1" dirty="0">
                <a:solidFill>
                  <a:srgbClr val="00E5CC"/>
                </a:solidFill>
                <a:latin typeface="Inter"/>
              </a:rPr>
              <a:t>the why</a:t>
            </a:r>
            <a:r>
              <a:rPr lang="en-US" sz="2000" dirty="0">
                <a:solidFill>
                  <a:srgbClr val="E5E7EB"/>
                </a:solidFill>
                <a:latin typeface="Inter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9C4B91-59BE-4FBB-83D7-F538FD802ACE}"/>
              </a:ext>
            </a:extLst>
          </p:cNvPr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Inter"/>
              </a:rPr>
              <a:t>Move  /  Competition</a:t>
            </a:r>
            <a:endParaRPr lang="en-GB" sz="900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6CA406-67C9-461D-8034-D937C1D276D4}"/>
              </a:ext>
            </a:extLst>
          </p:cNvPr>
          <p:cNvSpPr/>
          <p:nvPr/>
        </p:nvSpPr>
        <p:spPr>
          <a:xfrm>
            <a:off x="3733800" y="4279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7B56A5-6588-4F34-BFE1-5DA4FC876DEB}"/>
              </a:ext>
            </a:extLst>
          </p:cNvPr>
          <p:cNvSpPr/>
          <p:nvPr/>
        </p:nvSpPr>
        <p:spPr>
          <a:xfrm>
            <a:off x="5435600" y="4279900"/>
            <a:ext cx="177800" cy="177800"/>
          </a:xfrm>
          <a:prstGeom prst="ellipse">
            <a:avLst/>
          </a:prstGeom>
          <a:solidFill>
            <a:srgbClr val="0B1020"/>
          </a:solidFill>
          <a:ln w="1905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7282289-30C6-423B-BD11-38E127816BA7}"/>
              </a:ext>
            </a:extLst>
          </p:cNvPr>
          <p:cNvSpPr/>
          <p:nvPr/>
        </p:nvSpPr>
        <p:spPr>
          <a:xfrm>
            <a:off x="685800" y="5295900"/>
            <a:ext cx="127000" cy="127000"/>
          </a:xfrm>
          <a:prstGeom prst="ellipse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83FA90-7C76-4843-99AF-2C305A0045B5}"/>
              </a:ext>
            </a:extLst>
          </p:cNvPr>
          <p:cNvSpPr txBox="1"/>
          <p:nvPr/>
        </p:nvSpPr>
        <p:spPr>
          <a:xfrm>
            <a:off x="889000" y="525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>
                <a:solidFill>
                  <a:srgbClr val="9CA3AF"/>
                </a:solidFill>
                <a:latin typeface="Inter"/>
              </a:rPr>
              <a:t>Yes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EE75E6A-95F1-4C11-B030-64E424F6479F}"/>
              </a:ext>
            </a:extLst>
          </p:cNvPr>
          <p:cNvSpPr/>
          <p:nvPr/>
        </p:nvSpPr>
        <p:spPr>
          <a:xfrm>
            <a:off x="1701800" y="5295900"/>
            <a:ext cx="127000" cy="127000"/>
          </a:xfrm>
          <a:prstGeom prst="ellipse">
            <a:avLst/>
          </a:prstGeom>
          <a:solidFill>
            <a:srgbClr val="0B1020"/>
          </a:solidFill>
          <a:ln w="15875" cap="flat" cmpd="sng" algn="ctr">
            <a:solidFill>
              <a:srgbClr val="9CA3A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6C645E-E332-45EF-81CA-8E8F32A245F0}"/>
              </a:ext>
            </a:extLst>
          </p:cNvPr>
          <p:cNvSpPr txBox="1"/>
          <p:nvPr/>
        </p:nvSpPr>
        <p:spPr>
          <a:xfrm>
            <a:off x="1905000" y="525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>
                <a:solidFill>
                  <a:srgbClr val="9CA3AF"/>
                </a:solidFill>
                <a:latin typeface="Inter"/>
              </a:rPr>
              <a:t>Partial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A91903-744A-4E59-A6B3-175042354F73}"/>
              </a:ext>
            </a:extLst>
          </p:cNvPr>
          <p:cNvSpPr txBox="1"/>
          <p:nvPr/>
        </p:nvSpPr>
        <p:spPr>
          <a:xfrm>
            <a:off x="2946400" y="5257800"/>
            <a:ext cx="177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>
                <a:solidFill>
                  <a:srgbClr val="6B7280"/>
                </a:solidFill>
                <a:latin typeface="Inter"/>
              </a:rPr>
              <a:t>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9B10ED-02BF-462F-AE85-D5F0BB923135}"/>
              </a:ext>
            </a:extLst>
          </p:cNvPr>
          <p:cNvSpPr txBox="1"/>
          <p:nvPr/>
        </p:nvSpPr>
        <p:spPr>
          <a:xfrm>
            <a:off x="3175000" y="525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>
                <a:solidFill>
                  <a:srgbClr val="9CA3AF"/>
                </a:solidFill>
                <a:latin typeface="Inter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2912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4A7BE0-B6EE-4867-BEA1-46B01505ACE0}"/>
              </a:ext>
            </a:extLst>
          </p:cNvPr>
          <p:cNvSpPr txBox="1"/>
          <p:nvPr/>
        </p:nvSpPr>
        <p:spPr>
          <a:xfrm>
            <a:off x="609600" y="4572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00E5CC"/>
                </a:solidFill>
                <a:latin typeface="Montserrat"/>
              </a:rPr>
              <a:t>MOAT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E1211-E6F6-466E-BA62-AC0E1E4D5BC6}"/>
              </a:ext>
            </a:extLst>
          </p:cNvPr>
          <p:cNvSpPr txBox="1"/>
          <p:nvPr/>
        </p:nvSpPr>
        <p:spPr>
          <a:xfrm>
            <a:off x="609600" y="8382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Montserrat"/>
              </a:rPr>
              <a:t>Why this gets stronger over time</a:t>
            </a:r>
            <a:endParaRPr lang="en-GB" sz="32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AA5A8-C977-4199-BEDD-422CFDBCC113}"/>
              </a:ext>
            </a:extLst>
          </p:cNvPr>
          <p:cNvSpPr txBox="1"/>
          <p:nvPr/>
        </p:nvSpPr>
        <p:spPr>
          <a:xfrm>
            <a:off x="609600" y="14986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CA3AF"/>
                </a:solidFill>
                <a:latin typeface="Inter"/>
              </a:rPr>
              <a:t>Four layers of defensibility that compound with every event, user, and explanation.</a:t>
            </a:r>
            <a:endParaRPr lang="en-GB" sz="14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ECBEC-E1AE-4F85-B74D-1CC04956E01A}"/>
              </a:ext>
            </a:extLst>
          </p:cNvPr>
          <p:cNvSpPr/>
          <p:nvPr/>
        </p:nvSpPr>
        <p:spPr>
          <a:xfrm>
            <a:off x="609600" y="2082800"/>
            <a:ext cx="2628900" cy="3556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36F32-1588-4D18-A2B0-CF0006A1651E}"/>
              </a:ext>
            </a:extLst>
          </p:cNvPr>
          <p:cNvSpPr/>
          <p:nvPr/>
        </p:nvSpPr>
        <p:spPr>
          <a:xfrm>
            <a:off x="609600" y="2082800"/>
            <a:ext cx="38100" cy="35560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DC0DEB-D2B6-4992-9728-4BEECD1525D2}"/>
              </a:ext>
            </a:extLst>
          </p:cNvPr>
          <p:cNvSpPr/>
          <p:nvPr/>
        </p:nvSpPr>
        <p:spPr>
          <a:xfrm>
            <a:off x="914400" y="2387600"/>
            <a:ext cx="609600" cy="609600"/>
          </a:xfrm>
          <a:prstGeom prst="roundRect">
            <a:avLst/>
          </a:prstGeom>
          <a:solidFill>
            <a:srgbClr val="0D2E2A"/>
          </a:solidFill>
          <a:ln w="12700" cap="flat" cmpd="sng" algn="ctr">
            <a:solidFill>
              <a:srgbClr val="00E5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5C9D2-FE39-42A9-B4B7-DFA7C27F17F1}"/>
              </a:ext>
            </a:extLst>
          </p:cNvPr>
          <p:cNvSpPr txBox="1"/>
          <p:nvPr/>
        </p:nvSpPr>
        <p:spPr>
          <a:xfrm>
            <a:off x="914400" y="23876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51E82-DDAD-442D-9516-46012EE9A1C8}"/>
              </a:ext>
            </a:extLst>
          </p:cNvPr>
          <p:cNvSpPr txBox="1"/>
          <p:nvPr/>
        </p:nvSpPr>
        <p:spPr>
          <a:xfrm>
            <a:off x="914400" y="3200400"/>
            <a:ext cx="212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 b="1">
                <a:solidFill>
                  <a:srgbClr val="00E5CC"/>
                </a:solidFill>
                <a:latin typeface="Montserrat"/>
              </a:rPr>
              <a:t>INDIA-SPECIFIC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5A22A-E080-4068-877B-6B81D1856CA1}"/>
              </a:ext>
            </a:extLst>
          </p:cNvPr>
          <p:cNvSpPr txBox="1"/>
          <p:nvPr/>
        </p:nvSpPr>
        <p:spPr>
          <a:xfrm>
            <a:off x="819150" y="3403600"/>
            <a:ext cx="2476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 dirty="0">
                <a:solidFill>
                  <a:srgbClr val="FFFFFF"/>
                </a:solidFill>
                <a:latin typeface="Montserrat"/>
              </a:rPr>
              <a:t>Causal knowledge graph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B8515-E75E-4849-86C4-E90840F9FEF8}"/>
              </a:ext>
            </a:extLst>
          </p:cNvPr>
          <p:cNvSpPr/>
          <p:nvPr/>
        </p:nvSpPr>
        <p:spPr>
          <a:xfrm>
            <a:off x="914400" y="4318000"/>
            <a:ext cx="406400" cy="254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068E9-F554-451E-9A89-607FD27AFFEA}"/>
              </a:ext>
            </a:extLst>
          </p:cNvPr>
          <p:cNvSpPr txBox="1"/>
          <p:nvPr/>
        </p:nvSpPr>
        <p:spPr>
          <a:xfrm>
            <a:off x="914400" y="4470400"/>
            <a:ext cx="2120900" cy="1066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Every earnings report, budget, RBI action, and filing feeds a structured graph of what moves Indian equities and why.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B48D5-9444-43FA-AE4A-50DC3468F325}"/>
              </a:ext>
            </a:extLst>
          </p:cNvPr>
          <p:cNvSpPr/>
          <p:nvPr/>
        </p:nvSpPr>
        <p:spPr>
          <a:xfrm>
            <a:off x="3390900" y="2082800"/>
            <a:ext cx="2628900" cy="3556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D4515D-2A0F-467F-9745-D9E55F9A8492}"/>
              </a:ext>
            </a:extLst>
          </p:cNvPr>
          <p:cNvSpPr/>
          <p:nvPr/>
        </p:nvSpPr>
        <p:spPr>
          <a:xfrm>
            <a:off x="3390900" y="2082800"/>
            <a:ext cx="38100" cy="35560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1546D8-FFAE-472A-9C47-FAA2B0D4F883}"/>
              </a:ext>
            </a:extLst>
          </p:cNvPr>
          <p:cNvSpPr/>
          <p:nvPr/>
        </p:nvSpPr>
        <p:spPr>
          <a:xfrm>
            <a:off x="3695700" y="2387600"/>
            <a:ext cx="609600" cy="609600"/>
          </a:xfrm>
          <a:prstGeom prst="roundRect">
            <a:avLst/>
          </a:prstGeom>
          <a:solidFill>
            <a:srgbClr val="0D2E2A"/>
          </a:solidFill>
          <a:ln w="12700" cap="flat" cmpd="sng" algn="ctr">
            <a:solidFill>
              <a:srgbClr val="00E5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F3180-CF78-499C-959A-56F93F44B62D}"/>
              </a:ext>
            </a:extLst>
          </p:cNvPr>
          <p:cNvSpPr txBox="1"/>
          <p:nvPr/>
        </p:nvSpPr>
        <p:spPr>
          <a:xfrm>
            <a:off x="3695700" y="23876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DD2D4-4438-424C-9CBC-05E2EDBDB8FA}"/>
              </a:ext>
            </a:extLst>
          </p:cNvPr>
          <p:cNvSpPr txBox="1"/>
          <p:nvPr/>
        </p:nvSpPr>
        <p:spPr>
          <a:xfrm>
            <a:off x="3695700" y="3200400"/>
            <a:ext cx="212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 b="1">
                <a:solidFill>
                  <a:srgbClr val="00E5CC"/>
                </a:solidFill>
                <a:latin typeface="Montserrat"/>
              </a:rPr>
              <a:t>PERSONALIZATION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5316F0-19AC-4A8E-8903-FD1C22923F38}"/>
              </a:ext>
            </a:extLst>
          </p:cNvPr>
          <p:cNvSpPr txBox="1"/>
          <p:nvPr/>
        </p:nvSpPr>
        <p:spPr>
          <a:xfrm>
            <a:off x="3695700" y="3479800"/>
            <a:ext cx="21209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 dirty="0">
                <a:solidFill>
                  <a:srgbClr val="FFFFFF"/>
                </a:solidFill>
                <a:latin typeface="Montserrat"/>
              </a:rPr>
              <a:t>User &amp; trade 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802362-188C-4587-83B7-CF6097DB051F}"/>
              </a:ext>
            </a:extLst>
          </p:cNvPr>
          <p:cNvSpPr/>
          <p:nvPr/>
        </p:nvSpPr>
        <p:spPr>
          <a:xfrm>
            <a:off x="3695700" y="4318000"/>
            <a:ext cx="406400" cy="254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9E991C-10FF-4CA2-864C-537B4542A630}"/>
              </a:ext>
            </a:extLst>
          </p:cNvPr>
          <p:cNvSpPr txBox="1"/>
          <p:nvPr/>
        </p:nvSpPr>
        <p:spPr>
          <a:xfrm>
            <a:off x="3695700" y="4470400"/>
            <a:ext cx="2120900" cy="1066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Each user's holdings, trades, and behavior patterns train a model that gets sharper the longer they stay.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93D8C-6B0C-49DA-B8F5-4C6CDE3E8072}"/>
              </a:ext>
            </a:extLst>
          </p:cNvPr>
          <p:cNvSpPr/>
          <p:nvPr/>
        </p:nvSpPr>
        <p:spPr>
          <a:xfrm>
            <a:off x="6172200" y="2082800"/>
            <a:ext cx="2628900" cy="3556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28C7D3-7B8B-41D8-B164-DCA3D07F3D30}"/>
              </a:ext>
            </a:extLst>
          </p:cNvPr>
          <p:cNvSpPr/>
          <p:nvPr/>
        </p:nvSpPr>
        <p:spPr>
          <a:xfrm>
            <a:off x="6172200" y="2082800"/>
            <a:ext cx="38100" cy="35560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D21364-BE9C-4899-AE92-7293BD3B1CCC}"/>
              </a:ext>
            </a:extLst>
          </p:cNvPr>
          <p:cNvSpPr/>
          <p:nvPr/>
        </p:nvSpPr>
        <p:spPr>
          <a:xfrm>
            <a:off x="6477000" y="2387600"/>
            <a:ext cx="609600" cy="609600"/>
          </a:xfrm>
          <a:prstGeom prst="roundRect">
            <a:avLst/>
          </a:prstGeom>
          <a:solidFill>
            <a:srgbClr val="0D2E2A"/>
          </a:solidFill>
          <a:ln w="12700" cap="flat" cmpd="sng" algn="ctr">
            <a:solidFill>
              <a:srgbClr val="00E5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050F8D-47F4-47FB-B704-223AECFA8E5F}"/>
              </a:ext>
            </a:extLst>
          </p:cNvPr>
          <p:cNvSpPr txBox="1"/>
          <p:nvPr/>
        </p:nvSpPr>
        <p:spPr>
          <a:xfrm>
            <a:off x="6477000" y="23876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EED27-9F70-4D1E-887C-4AD53D7ACE35}"/>
              </a:ext>
            </a:extLst>
          </p:cNvPr>
          <p:cNvSpPr txBox="1"/>
          <p:nvPr/>
        </p:nvSpPr>
        <p:spPr>
          <a:xfrm>
            <a:off x="6477000" y="3200400"/>
            <a:ext cx="212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 b="1">
                <a:solidFill>
                  <a:srgbClr val="00E5CC"/>
                </a:solidFill>
                <a:latin typeface="Montserrat"/>
              </a:rPr>
              <a:t>LANGUAGE EDGE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2C0598-8D8E-4AB6-A5D4-7943744B7870}"/>
              </a:ext>
            </a:extLst>
          </p:cNvPr>
          <p:cNvSpPr txBox="1"/>
          <p:nvPr/>
        </p:nvSpPr>
        <p:spPr>
          <a:xfrm>
            <a:off x="6477000" y="3403600"/>
            <a:ext cx="21209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GB" b="1" dirty="0"/>
              <a:t>Language-trained AI</a:t>
            </a:r>
            <a:endParaRPr lang="en-GB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C8F97-73E2-45EA-967D-7C0E2521F9AD}"/>
              </a:ext>
            </a:extLst>
          </p:cNvPr>
          <p:cNvSpPr/>
          <p:nvPr/>
        </p:nvSpPr>
        <p:spPr>
          <a:xfrm>
            <a:off x="6477000" y="4318000"/>
            <a:ext cx="406400" cy="254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531B4F-6D86-4815-B861-5122A1E8DFA6}"/>
              </a:ext>
            </a:extLst>
          </p:cNvPr>
          <p:cNvSpPr txBox="1"/>
          <p:nvPr/>
        </p:nvSpPr>
        <p:spPr>
          <a:xfrm>
            <a:off x="6477000" y="4470400"/>
            <a:ext cx="2120900" cy="1066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Proprietary dataset of financial explanations in Hindi, Telugu, and more — training data no competitor owns.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A0FAFE-4C6B-4ACA-ACAF-58C06FBDCC74}"/>
              </a:ext>
            </a:extLst>
          </p:cNvPr>
          <p:cNvSpPr/>
          <p:nvPr/>
        </p:nvSpPr>
        <p:spPr>
          <a:xfrm>
            <a:off x="8953500" y="2082800"/>
            <a:ext cx="2628900" cy="3556000"/>
          </a:xfrm>
          <a:prstGeom prst="rect">
            <a:avLst/>
          </a:prstGeom>
          <a:solidFill>
            <a:srgbClr val="151B2E"/>
          </a:solidFill>
          <a:ln w="9525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8895E-C576-4786-B429-7D8A23ED3C25}"/>
              </a:ext>
            </a:extLst>
          </p:cNvPr>
          <p:cNvSpPr/>
          <p:nvPr/>
        </p:nvSpPr>
        <p:spPr>
          <a:xfrm>
            <a:off x="8953500" y="2082800"/>
            <a:ext cx="38100" cy="35560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3F85280-E5BF-4203-9778-44856058DBC8}"/>
              </a:ext>
            </a:extLst>
          </p:cNvPr>
          <p:cNvSpPr/>
          <p:nvPr/>
        </p:nvSpPr>
        <p:spPr>
          <a:xfrm>
            <a:off x="9258300" y="2387600"/>
            <a:ext cx="609600" cy="609600"/>
          </a:xfrm>
          <a:prstGeom prst="roundRect">
            <a:avLst/>
          </a:prstGeom>
          <a:solidFill>
            <a:srgbClr val="0D2E2A"/>
          </a:solidFill>
          <a:ln w="12700" cap="flat" cmpd="sng" algn="ctr">
            <a:solidFill>
              <a:srgbClr val="00E5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A1429-E735-4C79-B45C-3D5A0454DAAB}"/>
              </a:ext>
            </a:extLst>
          </p:cNvPr>
          <p:cNvSpPr txBox="1"/>
          <p:nvPr/>
        </p:nvSpPr>
        <p:spPr>
          <a:xfrm>
            <a:off x="9258300" y="23876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555B9F-7C8D-4C68-B05A-913205C8EA74}"/>
              </a:ext>
            </a:extLst>
          </p:cNvPr>
          <p:cNvSpPr txBox="1"/>
          <p:nvPr/>
        </p:nvSpPr>
        <p:spPr>
          <a:xfrm>
            <a:off x="9258300" y="3200400"/>
            <a:ext cx="212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000" b="1">
                <a:solidFill>
                  <a:srgbClr val="00E5CC"/>
                </a:solidFill>
                <a:latin typeface="Montserrat"/>
              </a:rPr>
              <a:t>TRUST EDGE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2AE426-FB4F-4F4C-B04A-A6EF70BE35A5}"/>
              </a:ext>
            </a:extLst>
          </p:cNvPr>
          <p:cNvSpPr txBox="1"/>
          <p:nvPr/>
        </p:nvSpPr>
        <p:spPr>
          <a:xfrm>
            <a:off x="9258300" y="3479800"/>
            <a:ext cx="21209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  <a:latin typeface="Montserrat"/>
              </a:rPr>
              <a:t>Privacy-first architecture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F7A530-5C8C-4EE4-A5DB-7972C663C16D}"/>
              </a:ext>
            </a:extLst>
          </p:cNvPr>
          <p:cNvSpPr/>
          <p:nvPr/>
        </p:nvSpPr>
        <p:spPr>
          <a:xfrm>
            <a:off x="9258300" y="4318000"/>
            <a:ext cx="406400" cy="25400"/>
          </a:xfrm>
          <a:prstGeom prst="rect">
            <a:avLst/>
          </a:prstGeom>
          <a:solidFill>
            <a:srgbClr val="00E5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3A3280-22DA-498F-8340-CE5D2BEA14EB}"/>
              </a:ext>
            </a:extLst>
          </p:cNvPr>
          <p:cNvSpPr txBox="1"/>
          <p:nvPr/>
        </p:nvSpPr>
        <p:spPr>
          <a:xfrm>
            <a:off x="9258300" y="4470400"/>
            <a:ext cx="2120900" cy="1066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9CA3AF"/>
                </a:solidFill>
                <a:latin typeface="Inter"/>
              </a:rPr>
              <a:t>Sensitive portfolio context stays local. A credibility moat in a market burned by data leaks and tip leaks.</a:t>
            </a:r>
            <a:endParaRPr lang="en-GB" sz="120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7" name="Takeaway">
            <a:extLst>
              <a:ext uri="{FF2B5EF4-FFF2-40B4-BE49-F238E27FC236}">
                <a16:creationId xmlns:a16="http://schemas.microsoft.com/office/drawing/2014/main" id="{C4B04AD1-8270-47A6-8924-AC82EEF47706}"/>
              </a:ext>
            </a:extLst>
          </p:cNvPr>
          <p:cNvSpPr txBox="1"/>
          <p:nvPr/>
        </p:nvSpPr>
        <p:spPr>
          <a:xfrm>
            <a:off x="609600" y="5816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E5E7EB"/>
                </a:solidFill>
                <a:latin typeface="Inter"/>
              </a:rPr>
              <a:t>Every event, every user, every explanation </a:t>
            </a:r>
            <a:r>
              <a:rPr lang="en-US" sz="2000" b="1" dirty="0">
                <a:solidFill>
                  <a:srgbClr val="00E5CC"/>
                </a:solidFill>
                <a:latin typeface="Inter"/>
              </a:rPr>
              <a:t>compounds the advantage</a:t>
            </a:r>
            <a:r>
              <a:rPr lang="en-US" sz="2000" dirty="0">
                <a:solidFill>
                  <a:srgbClr val="E5E7EB"/>
                </a:solidFill>
                <a:latin typeface="Inter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995F6E-C3AD-4101-8383-977F80CF60D7}"/>
              </a:ext>
            </a:extLst>
          </p:cNvPr>
          <p:cNvSpPr txBox="1"/>
          <p:nvPr/>
        </p:nvSpPr>
        <p:spPr>
          <a:xfrm>
            <a:off x="60960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Inter"/>
              </a:rPr>
              <a:t>Move  /  Moat</a:t>
            </a:r>
            <a:endParaRPr lang="en-GB" sz="900" dirty="0">
              <a:solidFill>
                <a:srgbClr val="6B7280"/>
              </a:solidFill>
              <a:latin typeface="Inter"/>
            </a:endParaRPr>
          </a:p>
        </p:txBody>
      </p:sp>
      <p:pic>
        <p:nvPicPr>
          <p:cNvPr id="39" name="Graphic 39" descr="India-specific mo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89200"/>
            <a:ext cx="406400" cy="406400"/>
          </a:xfrm>
          <a:prstGeom prst="rect">
            <a:avLst/>
          </a:prstGeom>
        </p:spPr>
      </p:pic>
      <p:pic>
        <p:nvPicPr>
          <p:cNvPr id="40" name="Graphic 40" descr="Personalization mo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7300" y="2489200"/>
            <a:ext cx="406400" cy="406400"/>
          </a:xfrm>
          <a:prstGeom prst="rect">
            <a:avLst/>
          </a:prstGeom>
        </p:spPr>
      </p:pic>
      <p:pic>
        <p:nvPicPr>
          <p:cNvPr id="41" name="Graphic 41" descr="Language edge mo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2489200"/>
            <a:ext cx="406400" cy="406400"/>
          </a:xfrm>
          <a:prstGeom prst="rect">
            <a:avLst/>
          </a:prstGeom>
        </p:spPr>
      </p:pic>
      <p:pic>
        <p:nvPicPr>
          <p:cNvPr id="42" name="Graphic 42" descr="Trust edge mo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9900" y="248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2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771178963]">
  <a:themeElements>
    <a:clrScheme name="Office">
      <a:dk1>
        <a:srgbClr val="F5F7FA"/>
      </a:dk1>
      <a:lt1>
        <a:srgbClr val="0B1020"/>
      </a:lt1>
      <a:dk2>
        <a:srgbClr val="9CA3AF"/>
      </a:dk2>
      <a:lt2>
        <a:srgbClr val="151B2E"/>
      </a:lt2>
      <a:accent1>
        <a:srgbClr val="00E5CC"/>
      </a:accent1>
      <a:accent2>
        <a:srgbClr val="FFB020"/>
      </a:accent2>
      <a:accent3>
        <a:srgbClr val="22C55E"/>
      </a:accent3>
      <a:accent4>
        <a:srgbClr val="EF4444"/>
      </a:accent4>
      <a:accent5>
        <a:srgbClr val="818CF8"/>
      </a:accent5>
      <a:accent6>
        <a:srgbClr val="F472B6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3C77AE-4D88-479A-90F7-D569A6B3EF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ca0aade-df98-4fbd-931f-71c4c7ff7cb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1489</Words>
  <Application>Microsoft Office PowerPoint</Application>
  <PresentationFormat>Widescreen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Montserrat</vt:lpstr>
      <vt:lpstr>Segoe UI Emoji</vt:lpstr>
      <vt:lpstr>Office Theme [1776771178963]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Nikhilesh Raju Kuppili</dc:creator>
  <cp:lastModifiedBy>Nikhilesh Raju Kuppili</cp:lastModifiedBy>
  <cp:revision>13</cp:revision>
  <dcterms:created xsi:type="dcterms:W3CDTF">2026-04-21T06:33:06Z</dcterms:created>
  <dcterms:modified xsi:type="dcterms:W3CDTF">2026-04-30T15:13:28Z</dcterms:modified>
</cp:coreProperties>
</file>